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USD B</c:v>
                </c:pt>
              </c:strCache>
            </c:strRef>
          </c:tx>
          <c:spPr>
            <a:solidFill>
              <a:srgbClr val="5B9BD5"/>
            </a:solidFill>
          </c:spPr>
          <c:invertIfNegative val="1"/>
          <c:dLbls>
            <c:numFmt formatCode="&quot;USD &quot;0.0&quot; B&quot;" sourceLinked="0"/>
            <c:spPr>
              <a:noFill/>
              <a:ln>
                <a:noFill/>
              </a:ln>
              <a:effectLst/>
            </c:spPr>
            <c:txPr>
              <a:bodyPr/>
              <a:lstStyle/>
              <a:p>
                <a:pPr>
                  <a:defRPr sz="800">
                    <a:solidFill>
                      <a:srgbClr val="262626"/>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c:v>
                </c:pt>
                <c:pt idx="1">
                  <c:v>2030</c:v>
                </c:pt>
              </c:strCache>
            </c:strRef>
          </c:cat>
          <c:val>
            <c:numRef>
              <c:f>Sheet1!$B$2:$B$3</c:f>
              <c:numCache>
                <c:formatCode>General</c:formatCode>
                <c:ptCount val="2"/>
                <c:pt idx="0">
                  <c:v>17.0</c:v>
                </c:pt>
                <c:pt idx="1">
                  <c:v>40.6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98A-4F1E-8001-FF95D4CBD53F}"/>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FBFBF"/>
            </a:solidFill>
          </a:ln>
        </c:spPr>
        <c:txPr>
          <a:bodyPr/>
          <a:lstStyle/>
          <a:p>
            <a:pPr>
              <a:defRPr sz="850">
                <a:latin typeface="Calibri"/>
              </a:defRPr>
            </a:pPr>
            <a:endParaRPr lang="en-US"/>
          </a:p>
        </c:txPr>
        <c:crossAx val="-2113994440"/>
        <c:crosses val="autoZero"/>
        <c:auto val="1"/>
        <c:lblAlgn val="ctr"/>
        <c:lblOffset val="100"/>
        <c:noMultiLvlLbl val="0"/>
      </c:catAx>
      <c:valAx>
        <c:axId val="-2113994440"/>
        <c:scaling>
          <c:orientation val="minMax"/>
          <c:max val="68"/>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chart" Target="../charts/chart1.xml"/><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17.png"/><Relationship Id="rId12" Type="http://schemas.openxmlformats.org/officeDocument/2006/relationships/image" Target="../media/image18.png"/><Relationship Id="rId13" Type="http://schemas.openxmlformats.org/officeDocument/2006/relationships/image" Target="../media/image19.png"/><Relationship Id="rId1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ver_bg.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png"/>
          <p:cNvPicPr>
            <a:picLocks noChangeAspect="1"/>
          </p:cNvPicPr>
          <p:nvPr/>
        </p:nvPicPr>
        <p:blipFill>
          <a:blip r:embed="rId3"/>
          <a:stretch>
            <a:fillRect/>
          </a:stretch>
        </p:blipFill>
        <p:spPr>
          <a:xfrm>
            <a:off x="8522208" y="822960"/>
            <a:ext cx="1005840" cy="1005840"/>
          </a:xfrm>
          <a:prstGeom prst="rect">
            <a:avLst/>
          </a:prstGeom>
        </p:spPr>
      </p:pic>
      <p:sp>
        <p:nvSpPr>
          <p:cNvPr id="4" name="Rectangle 3"/>
          <p:cNvSpPr/>
          <p:nvPr/>
        </p:nvSpPr>
        <p:spPr>
          <a:xfrm>
            <a:off x="6309360" y="2176272"/>
            <a:ext cx="5440680" cy="457200"/>
          </a:xfrm>
          <a:prstGeom prst="rect">
            <a:avLst/>
          </a:prstGeom>
          <a:noFill/>
          <a:ln>
            <a:noFill/>
          </a:ln>
        </p:spPr>
        <p:txBody>
          <a:bodyPr wrap="square" lIns="0" tIns="0" rIns="0" bIns="0" rtlCol="0" anchor="ctr"/>
          <a:lstStyle/>
          <a:p>
            <a:pPr algn="ctr">
              <a:lnSpc>
                <a:spcPct val="100000"/>
              </a:lnSpc>
              <a:buNone/>
            </a:pPr>
            <a:r>
              <a:rPr sz="2600" b="1" i="0">
                <a:solidFill>
                  <a:srgbClr val="00F967"/>
                </a:solidFill>
                <a:latin typeface="Poppins"/>
              </a:rPr>
              <a:t>NIYAM</a:t>
            </a:r>
          </a:p>
        </p:txBody>
      </p:sp>
      <p:sp>
        <p:nvSpPr>
          <p:cNvPr id="5" name="Rectangle 4"/>
          <p:cNvSpPr/>
          <p:nvPr/>
        </p:nvSpPr>
        <p:spPr>
          <a:xfrm>
            <a:off x="6309360" y="2651760"/>
            <a:ext cx="5440680" cy="914400"/>
          </a:xfrm>
          <a:prstGeom prst="rect">
            <a:avLst/>
          </a:prstGeom>
          <a:noFill/>
          <a:ln>
            <a:noFill/>
          </a:ln>
        </p:spPr>
        <p:txBody>
          <a:bodyPr wrap="square" lIns="0" tIns="0" rIns="0" bIns="0" rtlCol="0" anchor="t"/>
          <a:lstStyle/>
          <a:p>
            <a:pPr algn="ctr">
              <a:lnSpc>
                <a:spcPct val="100000"/>
              </a:lnSpc>
              <a:buNone/>
            </a:pPr>
            <a:r>
              <a:rPr sz="2200" b="0" i="0">
                <a:solidFill>
                  <a:srgbClr val="FFFFFF"/>
                </a:solidFill>
                <a:latin typeface="Poppins"/>
              </a:rPr>
              <a:t>Agentic Regulatory Circular to</a:t>
            </a:r>
          </a:p>
          <a:p>
            <a:pPr algn="ctr">
              <a:lnSpc>
                <a:spcPct val="100000"/>
              </a:lnSpc>
              <a:buNone/>
            </a:pPr>
            <a:r>
              <a:rPr sz="2200" b="0" i="0">
                <a:solidFill>
                  <a:srgbClr val="FFFFFF"/>
                </a:solidFill>
                <a:latin typeface="Poppins"/>
              </a:rPr>
              <a:t>Live Rule Engine</a:t>
            </a:r>
          </a:p>
        </p:txBody>
      </p:sp>
      <p:sp>
        <p:nvSpPr>
          <p:cNvPr id="6" name="Rectangle 5"/>
          <p:cNvSpPr/>
          <p:nvPr/>
        </p:nvSpPr>
        <p:spPr>
          <a:xfrm>
            <a:off x="896112" y="4160520"/>
            <a:ext cx="3931920" cy="365760"/>
          </a:xfrm>
          <a:prstGeom prst="rect">
            <a:avLst/>
          </a:prstGeom>
          <a:noFill/>
          <a:ln>
            <a:noFill/>
          </a:ln>
        </p:spPr>
        <p:txBody>
          <a:bodyPr wrap="square" lIns="0" tIns="0" rIns="0" bIns="0" rtlCol="0" anchor="ctr"/>
          <a:lstStyle/>
          <a:p>
            <a:pPr algn="l">
              <a:lnSpc>
                <a:spcPct val="100000"/>
              </a:lnSpc>
              <a:buNone/>
            </a:pPr>
            <a:r>
              <a:rPr sz="1700" b="1" i="0">
                <a:solidFill>
                  <a:srgbClr val="00F967"/>
                </a:solidFill>
                <a:latin typeface="Poppins"/>
              </a:rPr>
              <a:t>Team Name: </a:t>
            </a:r>
            <a:r>
              <a:rPr sz="1700" b="1" i="0">
                <a:solidFill>
                  <a:srgbClr val="FFFFFF"/>
                </a:solidFill>
                <a:latin typeface="Poppins"/>
              </a:rPr>
              <a:t>Dragorithm</a:t>
            </a:r>
          </a:p>
        </p:txBody>
      </p:sp>
      <p:sp>
        <p:nvSpPr>
          <p:cNvPr id="7" name="Rectangle 6"/>
          <p:cNvSpPr/>
          <p:nvPr/>
        </p:nvSpPr>
        <p:spPr>
          <a:xfrm>
            <a:off x="896112" y="4681728"/>
            <a:ext cx="3931920" cy="1920240"/>
          </a:xfrm>
          <a:prstGeom prst="rect">
            <a:avLst/>
          </a:prstGeom>
          <a:noFill/>
          <a:ln>
            <a:noFill/>
          </a:ln>
        </p:spPr>
        <p:txBody>
          <a:bodyPr wrap="square" lIns="0" tIns="0" rIns="0" bIns="0" rtlCol="0" anchor="t"/>
          <a:lstStyle/>
          <a:p>
            <a:pPr algn="l">
              <a:lnSpc>
                <a:spcPct val="100000"/>
              </a:lnSpc>
              <a:spcAft>
                <a:spcPts val="200"/>
              </a:spcAft>
              <a:buNone/>
            </a:pPr>
            <a:r>
              <a:rPr sz="1700" b="1" i="0">
                <a:solidFill>
                  <a:srgbClr val="00F967"/>
                </a:solidFill>
                <a:latin typeface="Poppins"/>
              </a:rPr>
              <a:t>Team Members:</a:t>
            </a:r>
          </a:p>
          <a:p>
            <a:pPr algn="l">
              <a:lnSpc>
                <a:spcPct val="100000"/>
              </a:lnSpc>
              <a:spcAft>
                <a:spcPts val="100"/>
              </a:spcAft>
              <a:buNone/>
            </a:pPr>
            <a:r>
              <a:rPr sz="1500" b="0" i="0">
                <a:solidFill>
                  <a:srgbClr val="FFFFFF"/>
                </a:solidFill>
                <a:latin typeface="Poppins"/>
              </a:rPr>
              <a:t>1.Senaaravichandran A</a:t>
            </a:r>
          </a:p>
          <a:p>
            <a:pPr algn="l">
              <a:lnSpc>
                <a:spcPct val="100000"/>
              </a:lnSpc>
              <a:spcAft>
                <a:spcPts val="100"/>
              </a:spcAft>
              <a:buNone/>
            </a:pPr>
            <a:r>
              <a:rPr sz="1500" b="0" i="0">
                <a:solidFill>
                  <a:srgbClr val="FFFFFF"/>
                </a:solidFill>
                <a:latin typeface="Poppins"/>
              </a:rPr>
              <a:t>2.Abiyshek S</a:t>
            </a:r>
          </a:p>
          <a:p>
            <a:pPr algn="l">
              <a:lnSpc>
                <a:spcPct val="100000"/>
              </a:lnSpc>
              <a:spcAft>
                <a:spcPts val="100"/>
              </a:spcAft>
              <a:buNone/>
            </a:pPr>
            <a:r>
              <a:rPr sz="1500" b="0" i="0">
                <a:solidFill>
                  <a:srgbClr val="FFFFFF"/>
                </a:solidFill>
                <a:latin typeface="Poppins"/>
              </a:rPr>
              <a:t>3.Jerrick Austin Manuel G</a:t>
            </a:r>
          </a:p>
          <a:p>
            <a:pPr algn="l">
              <a:lnSpc>
                <a:spcPct val="100000"/>
              </a:lnSpc>
              <a:spcAft>
                <a:spcPts val="100"/>
              </a:spcAft>
              <a:buNone/>
            </a:pPr>
            <a:r>
              <a:rPr sz="1500" b="0" i="0">
                <a:solidFill>
                  <a:srgbClr val="FFFFFF"/>
                </a:solidFill>
                <a:latin typeface="Poppins"/>
              </a:rPr>
              <a:t>4.Venkat Narayanan S</a:t>
            </a:r>
          </a:p>
          <a:p>
            <a:pPr algn="l">
              <a:lnSpc>
                <a:spcPct val="100000"/>
              </a:lnSpc>
              <a:spcAft>
                <a:spcPts val="100"/>
              </a:spcAft>
              <a:buNone/>
            </a:pPr>
            <a:r>
              <a:rPr sz="1500" b="0" i="0">
                <a:solidFill>
                  <a:srgbClr val="FFFFFF"/>
                </a:solidFill>
                <a:latin typeface="Poppins"/>
              </a:rPr>
              <a:t>5.Vishal R</a:t>
            </a:r>
          </a:p>
        </p:txBody>
      </p:sp>
      <p:sp>
        <p:nvSpPr>
          <p:cNvPr id="8" name="Rectangle 7"/>
          <p:cNvSpPr/>
          <p:nvPr/>
        </p:nvSpPr>
        <p:spPr>
          <a:xfrm>
            <a:off x="4946904" y="4114800"/>
            <a:ext cx="6766560" cy="777240"/>
          </a:xfrm>
          <a:prstGeom prst="rect">
            <a:avLst/>
          </a:prstGeom>
          <a:noFill/>
          <a:ln>
            <a:noFill/>
          </a:ln>
        </p:spPr>
        <p:txBody>
          <a:bodyPr wrap="square" lIns="0" tIns="0" rIns="0" bIns="0" rtlCol="0" anchor="t"/>
          <a:lstStyle/>
          <a:p>
            <a:pPr algn="l">
              <a:lnSpc>
                <a:spcPct val="100000"/>
              </a:lnSpc>
              <a:spcAft>
                <a:spcPts val="200"/>
              </a:spcAft>
              <a:buNone/>
            </a:pPr>
            <a:r>
              <a:rPr sz="1700" b="1" i="0" dirty="0">
                <a:solidFill>
                  <a:srgbClr val="00F967"/>
                </a:solidFill>
                <a:latin typeface="Poppins"/>
              </a:rPr>
              <a:t>Mentor Details</a:t>
            </a:r>
          </a:p>
          <a:p>
            <a:pPr algn="l">
              <a:lnSpc>
                <a:spcPct val="100000"/>
              </a:lnSpc>
              <a:buNone/>
            </a:pPr>
            <a:r>
              <a:rPr lang="en-US" sz="1500" b="0" i="0" dirty="0">
                <a:solidFill>
                  <a:srgbClr val="FFFFFF"/>
                </a:solidFill>
                <a:latin typeface="Poppins"/>
              </a:rPr>
              <a:t>Prof. Suresh R</a:t>
            </a:r>
            <a:endParaRPr sz="1500" b="0" i="0" dirty="0">
              <a:solidFill>
                <a:srgbClr val="FFFFFF"/>
              </a:solidFill>
              <a:latin typeface="Poppins"/>
            </a:endParaRPr>
          </a:p>
        </p:txBody>
      </p:sp>
      <p:sp>
        <p:nvSpPr>
          <p:cNvPr id="9" name="Rectangle 8"/>
          <p:cNvSpPr/>
          <p:nvPr/>
        </p:nvSpPr>
        <p:spPr>
          <a:xfrm>
            <a:off x="4946904" y="5138928"/>
            <a:ext cx="6766560" cy="1097280"/>
          </a:xfrm>
          <a:prstGeom prst="rect">
            <a:avLst/>
          </a:prstGeom>
          <a:noFill/>
          <a:ln>
            <a:noFill/>
          </a:ln>
        </p:spPr>
        <p:txBody>
          <a:bodyPr wrap="square" lIns="0" tIns="0" rIns="0" bIns="0" rtlCol="0" anchor="t"/>
          <a:lstStyle/>
          <a:p>
            <a:pPr algn="l">
              <a:lnSpc>
                <a:spcPct val="100000"/>
              </a:lnSpc>
              <a:spcAft>
                <a:spcPts val="200"/>
              </a:spcAft>
              <a:buNone/>
            </a:pPr>
            <a:r>
              <a:rPr sz="1700" b="1" i="0">
                <a:solidFill>
                  <a:srgbClr val="00F967"/>
                </a:solidFill>
                <a:latin typeface="Poppins"/>
              </a:rPr>
              <a:t>College</a:t>
            </a:r>
          </a:p>
          <a:p>
            <a:pPr algn="l">
              <a:lnSpc>
                <a:spcPct val="100000"/>
              </a:lnSpc>
              <a:buNone/>
            </a:pPr>
            <a:r>
              <a:rPr sz="1500" b="0" i="0">
                <a:solidFill>
                  <a:srgbClr val="FFFFFF"/>
                </a:solidFill>
                <a:latin typeface="Poppins"/>
              </a:rPr>
              <a:t>Sri Manakula Vinayagar Engineering College,</a:t>
            </a:r>
          </a:p>
          <a:p>
            <a:pPr algn="l">
              <a:lnSpc>
                <a:spcPct val="100000"/>
              </a:lnSpc>
              <a:buNone/>
            </a:pPr>
            <a:r>
              <a:rPr sz="1500" b="0" i="0">
                <a:solidFill>
                  <a:srgbClr val="FFFFFF"/>
                </a:solidFill>
                <a:latin typeface="Poppins"/>
              </a:rPr>
              <a:t>Madagadipet, Puducherry, India.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AFB"/>
        </a:solidFill>
        <a:effectLst/>
      </p:bgPr>
    </p:bg>
    <p:spTree>
      <p:nvGrpSpPr>
        <p:cNvPr id="1" name=""/>
        <p:cNvGrpSpPr/>
        <p:nvPr/>
      </p:nvGrpSpPr>
      <p:grpSpPr>
        <a:xfrm>
          <a:off x="0" y="0"/>
          <a:ext cx="0" cy="0"/>
          <a:chOff x="0" y="0"/>
          <a:chExt cx="0" cy="0"/>
        </a:xfrm>
      </p:grpSpPr>
      <p:pic>
        <p:nvPicPr>
          <p:cNvPr id="2" name="Picture 1" descr="star.png"/>
          <p:cNvPicPr>
            <a:picLocks noChangeAspect="1"/>
          </p:cNvPicPr>
          <p:nvPr/>
        </p:nvPicPr>
        <p:blipFill>
          <a:blip r:embed="rId2"/>
          <a:stretch>
            <a:fillRect/>
          </a:stretch>
        </p:blipFill>
        <p:spPr>
          <a:xfrm>
            <a:off x="10442448" y="219456"/>
            <a:ext cx="411480" cy="411480"/>
          </a:xfrm>
          <a:prstGeom prst="rect">
            <a:avLst/>
          </a:prstGeom>
        </p:spPr>
      </p:pic>
      <p:pic>
        <p:nvPicPr>
          <p:cNvPr id="3" name="Picture 2" descr="virtusa_word.png"/>
          <p:cNvPicPr>
            <a:picLocks noChangeAspect="1"/>
          </p:cNvPicPr>
          <p:nvPr/>
        </p:nvPicPr>
        <p:blipFill>
          <a:blip r:embed="rId3"/>
          <a:stretch>
            <a:fillRect/>
          </a:stretch>
        </p:blipFill>
        <p:spPr>
          <a:xfrm>
            <a:off x="10908792" y="242316"/>
            <a:ext cx="868680" cy="367588"/>
          </a:xfrm>
          <a:prstGeom prst="rect">
            <a:avLst/>
          </a:prstGeom>
        </p:spPr>
      </p:pic>
      <p:sp>
        <p:nvSpPr>
          <p:cNvPr id="4" name="Rectangle 3"/>
          <p:cNvSpPr/>
          <p:nvPr/>
        </p:nvSpPr>
        <p:spPr>
          <a:xfrm>
            <a:off x="731520" y="685800"/>
            <a:ext cx="8229600" cy="329184"/>
          </a:xfrm>
          <a:prstGeom prst="rect">
            <a:avLst/>
          </a:prstGeom>
          <a:noFill/>
          <a:ln>
            <a:noFill/>
          </a:ln>
        </p:spPr>
        <p:txBody>
          <a:bodyPr wrap="square" lIns="0" tIns="0" rIns="0" bIns="0" rtlCol="0" anchor="ctr"/>
          <a:lstStyle/>
          <a:p>
            <a:pPr algn="l">
              <a:lnSpc>
                <a:spcPct val="100000"/>
              </a:lnSpc>
              <a:buNone/>
            </a:pPr>
            <a:r>
              <a:rPr sz="2200" b="1" i="0">
                <a:solidFill>
                  <a:srgbClr val="3A3480"/>
                </a:solidFill>
                <a:latin typeface="Times New Roman"/>
              </a:rPr>
              <a:t>Problem Statement: FDS NA, Use Case 2</a:t>
            </a:r>
          </a:p>
        </p:txBody>
      </p:sp>
      <p:graphicFrame>
        <p:nvGraphicFramePr>
          <p:cNvPr id="5" name="Table 4"/>
          <p:cNvGraphicFramePr>
            <a:graphicFrameLocks noGrp="1"/>
          </p:cNvGraphicFramePr>
          <p:nvPr/>
        </p:nvGraphicFramePr>
        <p:xfrm>
          <a:off x="731520" y="1234440"/>
          <a:ext cx="10744200" cy="4257548"/>
        </p:xfrm>
        <a:graphic>
          <a:graphicData uri="http://schemas.openxmlformats.org/drawingml/2006/table">
            <a:tbl>
              <a:tblPr>
                <a:tableStyleId>{5C22544A-7EE6-4342-B048-85BDC9FD1C3A}</a:tableStyleId>
              </a:tblPr>
              <a:tblGrid>
                <a:gridCol w="205740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gridCol w="4617720">
                  <a:extLst>
                    <a:ext uri="{9D8B030D-6E8A-4147-A177-3AD203B41FA5}">
                      <a16:colId xmlns:a16="http://schemas.microsoft.com/office/drawing/2014/main" val="20002"/>
                    </a:ext>
                  </a:extLst>
                </a:gridCol>
              </a:tblGrid>
              <a:tr h="411480">
                <a:tc>
                  <a:txBody>
                    <a:bodyPr/>
                    <a:lstStyle/>
                    <a:p>
                      <a:pPr algn="l"/>
                      <a:r>
                        <a:rPr sz="1300" b="1">
                          <a:solidFill>
                            <a:srgbClr val="FFFFFF"/>
                          </a:solidFill>
                          <a:latin typeface="Times New Roman"/>
                        </a:rPr>
                        <a:t>Title of the Use Case</a:t>
                      </a:r>
                    </a:p>
                  </a:txBody>
                  <a:tcPr marT="54864" marB="54864" anchor="ctr">
                    <a:solidFill>
                      <a:srgbClr val="3A3480"/>
                    </a:solidFill>
                  </a:tcPr>
                </a:tc>
                <a:tc>
                  <a:txBody>
                    <a:bodyPr/>
                    <a:lstStyle/>
                    <a:p>
                      <a:pPr algn="l"/>
                      <a:r>
                        <a:rPr sz="1300" b="1">
                          <a:solidFill>
                            <a:srgbClr val="FFFFFF"/>
                          </a:solidFill>
                          <a:latin typeface="Times New Roman"/>
                        </a:rPr>
                        <a:t>Description</a:t>
                      </a:r>
                    </a:p>
                  </a:txBody>
                  <a:tcPr marT="54864" marB="54864" anchor="ctr">
                    <a:solidFill>
                      <a:srgbClr val="3A3480"/>
                    </a:solidFill>
                  </a:tcPr>
                </a:tc>
                <a:tc>
                  <a:txBody>
                    <a:bodyPr/>
                    <a:lstStyle/>
                    <a:p>
                      <a:pPr algn="l"/>
                      <a:r>
                        <a:rPr sz="1300" b="1">
                          <a:solidFill>
                            <a:srgbClr val="FFFFFF"/>
                          </a:solidFill>
                          <a:latin typeface="Times New Roman"/>
                        </a:rPr>
                        <a:t>Details</a:t>
                      </a:r>
                    </a:p>
                  </a:txBody>
                  <a:tcPr marT="54864" marB="54864" anchor="ctr">
                    <a:solidFill>
                      <a:srgbClr val="3A3480"/>
                    </a:solidFill>
                  </a:tcPr>
                </a:tc>
                <a:extLst>
                  <a:ext uri="{0D108BD9-81ED-4DB2-BD59-A6C34878D82A}">
                    <a16:rowId xmlns:a16="http://schemas.microsoft.com/office/drawing/2014/main" val="10000"/>
                  </a:ext>
                </a:extLst>
              </a:tr>
              <a:tr h="2560320">
                <a:tc>
                  <a:txBody>
                    <a:bodyPr/>
                    <a:lstStyle/>
                    <a:p>
                      <a:pPr algn="l">
                        <a:spcAft>
                          <a:spcPts val="1100"/>
                        </a:spcAft>
                      </a:pPr>
                      <a:r>
                        <a:rPr sz="1300" b="1">
                          <a:solidFill>
                            <a:srgbClr val="1A1A1A"/>
                          </a:solidFill>
                          <a:latin typeface="Times New Roman"/>
                        </a:rPr>
                        <a:t>Use Case 2:</a:t>
                      </a:r>
                    </a:p>
                    <a:p>
                      <a:pPr algn="l"/>
                      <a:r>
                        <a:rPr sz="1300" b="0">
                          <a:solidFill>
                            <a:srgbClr val="1A1A1A"/>
                          </a:solidFill>
                          <a:latin typeface="Times New Roman"/>
                        </a:rPr>
                        <a:t>Regulatory Circular to Live Rule Engine</a:t>
                      </a:r>
                    </a:p>
                  </a:txBody>
                  <a:tcPr marT="54864" marB="54864">
                    <a:solidFill>
                      <a:srgbClr val="FFFFFF"/>
                    </a:solidFill>
                  </a:tcPr>
                </a:tc>
                <a:tc>
                  <a:txBody>
                    <a:bodyPr/>
                    <a:lstStyle/>
                    <a:p>
                      <a:pPr algn="l">
                        <a:spcAft>
                          <a:spcPts val="1100"/>
                        </a:spcAft>
                      </a:pPr>
                      <a:r>
                        <a:rPr sz="1200" b="1">
                          <a:solidFill>
                            <a:srgbClr val="1A1A1A"/>
                          </a:solidFill>
                          <a:latin typeface="Times New Roman"/>
                        </a:rPr>
                        <a:t>Problem Statement: </a:t>
                      </a:r>
                      <a:r>
                        <a:rPr sz="1200" b="0">
                          <a:solidFill>
                            <a:srgbClr val="1A1A1A"/>
                          </a:solidFill>
                          <a:latin typeface="Times New Roman"/>
                        </a:rPr>
                        <a:t>Banks must manually interpret regulatory circulars, identify applicable obligations, map them to internal policies and existing system rules, and coordinate with IT to implement changes. This process can take weeks or months, risks missing critical obligations, and may introduce incorrect rule scope or unexpected transaction impacts.</a:t>
                      </a:r>
                    </a:p>
                    <a:p>
                      <a:pPr algn="l"/>
                      <a:r>
                        <a:rPr sz="1200" b="1">
                          <a:solidFill>
                            <a:srgbClr val="1A1A1A"/>
                          </a:solidFill>
                          <a:latin typeface="Times New Roman"/>
                        </a:rPr>
                        <a:t>Description: </a:t>
                      </a:r>
                      <a:r>
                        <a:rPr sz="1200" b="0">
                          <a:solidFill>
                            <a:srgbClr val="1A1A1A"/>
                          </a:solidFill>
                          <a:latin typeface="Times New Roman"/>
                        </a:rPr>
                        <a:t>A multi-agent AI system reads regulatory circulars, determines applicability, extracts obligations, maps them to internal rules, drafts changes, backtests their impact, and prepares them for human approval. Approved changes are deployed through shadow mode, controlled rollout, monitoring, and rollback.</a:t>
                      </a:r>
                    </a:p>
                  </a:txBody>
                  <a:tcPr marT="54864" marB="54864">
                    <a:solidFill>
                      <a:srgbClr val="FFFFFF"/>
                    </a:solidFill>
                  </a:tcPr>
                </a:tc>
                <a:tc>
                  <a:txBody>
                    <a:bodyPr/>
                    <a:lstStyle/>
                    <a:p>
                      <a:pPr algn="l">
                        <a:spcAft>
                          <a:spcPts val="700"/>
                        </a:spcAft>
                      </a:pPr>
                      <a:r>
                        <a:rPr sz="1200" b="1">
                          <a:solidFill>
                            <a:srgbClr val="1A1A1A"/>
                          </a:solidFill>
                          <a:latin typeface="Times New Roman"/>
                        </a:rPr>
                        <a:t>Why Agentic AI: </a:t>
                      </a:r>
                      <a:r>
                        <a:rPr sz="1200" b="0">
                          <a:solidFill>
                            <a:srgbClr val="1A1A1A"/>
                          </a:solidFill>
                          <a:latin typeface="Times New Roman"/>
                        </a:rPr>
                        <a:t>Specialized agents collaborate via A2A to interpret regulations, map policies, create rules, analyze impact, and iteratively resolve issues.</a:t>
                      </a:r>
                    </a:p>
                    <a:p>
                      <a:pPr algn="l">
                        <a:spcAft>
                          <a:spcPts val="700"/>
                        </a:spcAft>
                      </a:pPr>
                      <a:r>
                        <a:rPr sz="1200" b="1">
                          <a:solidFill>
                            <a:srgbClr val="1A1A1A"/>
                          </a:solidFill>
                          <a:latin typeface="Times New Roman"/>
                        </a:rPr>
                        <a:t>Workflow: </a:t>
                      </a:r>
                      <a:r>
                        <a:rPr sz="1200" b="0">
                          <a:solidFill>
                            <a:srgbClr val="1A1A1A"/>
                          </a:solidFill>
                          <a:latin typeface="Times New Roman"/>
                        </a:rPr>
                        <a:t>Circular Intake → Obligation Extraction → Policy Mapping → Rule Authoring → Backtesting → Impact Analysis → Validation → Human Approval → Shadow Deployment → Rollout &amp; Monitoring.</a:t>
                      </a:r>
                    </a:p>
                    <a:p>
                      <a:pPr algn="l">
                        <a:spcAft>
                          <a:spcPts val="700"/>
                        </a:spcAft>
                      </a:pPr>
                      <a:r>
                        <a:rPr sz="1200" b="1">
                          <a:solidFill>
                            <a:srgbClr val="1A1A1A"/>
                          </a:solidFill>
                          <a:latin typeface="Times New Roman"/>
                        </a:rPr>
                        <a:t>Data Sources: </a:t>
                      </a:r>
                      <a:r>
                        <a:rPr sz="1200" b="0">
                          <a:solidFill>
                            <a:srgbClr val="1A1A1A"/>
                          </a:solidFill>
                          <a:latin typeface="Times New Roman"/>
                        </a:rPr>
                        <a:t>Regulatory circulars, internal policies, rule repositories, bank profiles, transaction data, backtest results, deployment metrics, and approval history.</a:t>
                      </a:r>
                    </a:p>
                    <a:p>
                      <a:pPr algn="l">
                        <a:spcAft>
                          <a:spcPts val="700"/>
                        </a:spcAft>
                      </a:pPr>
                      <a:r>
                        <a:rPr sz="1200" b="1">
                          <a:solidFill>
                            <a:srgbClr val="1A1A1A"/>
                          </a:solidFill>
                          <a:latin typeface="Times New Roman"/>
                        </a:rPr>
                        <a:t>Tech Stack: </a:t>
                      </a:r>
                      <a:r>
                        <a:rPr sz="1200" b="0">
                          <a:solidFill>
                            <a:srgbClr val="1A1A1A"/>
                          </a:solidFill>
                          <a:latin typeface="Times New Roman"/>
                        </a:rPr>
                        <a:t>Multi-agent orchestration, document retrieval, obligation registry, rule DSL, A2A messaging, sandbox engine, backtesting, version control, deployment APIs, monitoring, and LLMs.</a:t>
                      </a:r>
                    </a:p>
                    <a:p>
                      <a:pPr algn="l">
                        <a:spcAft>
                          <a:spcPts val="700"/>
                        </a:spcAft>
                      </a:pPr>
                      <a:r>
                        <a:rPr sz="1200" b="1">
                          <a:solidFill>
                            <a:srgbClr val="1A1A1A"/>
                          </a:solidFill>
                          <a:latin typeface="Times New Roman"/>
                        </a:rPr>
                        <a:t>Guardrails: </a:t>
                      </a:r>
                      <a:r>
                        <a:rPr sz="1200" b="0">
                          <a:solidFill>
                            <a:srgbClr val="1A1A1A"/>
                          </a:solidFill>
                          <a:latin typeface="Times New Roman"/>
                        </a:rPr>
                        <a:t>Draft-only rule changes, clause-level traceability, validation, mandatory human approval, controlled rollout, monitoring, rollback, and rate limits.</a:t>
                      </a:r>
                    </a:p>
                    <a:p>
                      <a:pPr algn="l">
                        <a:spcAft>
                          <a:spcPts val="700"/>
                        </a:spcAft>
                      </a:pPr>
                      <a:r>
                        <a:rPr sz="1200" b="1">
                          <a:solidFill>
                            <a:srgbClr val="1A1A1A"/>
                          </a:solidFill>
                          <a:latin typeface="Times New Roman"/>
                        </a:rPr>
                        <a:t>Enterprise Impact: </a:t>
                      </a:r>
                      <a:r>
                        <a:rPr sz="1200" b="0">
                          <a:solidFill>
                            <a:srgbClr val="1A1A1A"/>
                          </a:solidFill>
                          <a:latin typeface="Times New Roman"/>
                        </a:rPr>
                        <a:t>Faster regulatory implementation, fewer compliance gaps, reduced manual effort, better traceability, and safer rule deployment.</a:t>
                      </a:r>
                    </a:p>
                  </a:txBody>
                  <a:tcPr marT="54864" marB="54864">
                    <a:solidFill>
                      <a:srgbClr val="FFFFFF"/>
                    </a:solidFill>
                  </a:tcPr>
                </a:tc>
                <a:extLst>
                  <a:ext uri="{0D108BD9-81ED-4DB2-BD59-A6C34878D82A}">
                    <a16:rowId xmlns:a16="http://schemas.microsoft.com/office/drawing/2014/main" val="10001"/>
                  </a:ext>
                </a:extLst>
              </a:tr>
            </a:tbl>
          </a:graphicData>
        </a:graphic>
      </p:graphicFrame>
      <p:sp>
        <p:nvSpPr>
          <p:cNvPr id="6" name="Rounded Rectangle 5"/>
          <p:cNvSpPr/>
          <p:nvPr/>
        </p:nvSpPr>
        <p:spPr>
          <a:xfrm>
            <a:off x="731520" y="5559552"/>
            <a:ext cx="10744200" cy="841248"/>
          </a:xfrm>
          <a:prstGeom prst="roundRect">
            <a:avLst>
              <a:gd name="adj" fmla="val 12000"/>
            </a:avLst>
          </a:prstGeom>
          <a:solidFill>
            <a:srgbClr val="EEF2FA"/>
          </a:solidFill>
          <a:ln>
            <a:noFill/>
          </a:ln>
        </p:spPr>
        <p:txBody>
          <a:bodyPr wrap="square" lIns="0" tIns="0" rIns="0" bIns="0" rtlCol="0" anchor="t"/>
          <a:lstStyle/>
          <a:p>
            <a:endParaRPr/>
          </a:p>
        </p:txBody>
      </p:sp>
      <p:sp>
        <p:nvSpPr>
          <p:cNvPr id="7" name="Rectangle 6"/>
          <p:cNvSpPr/>
          <p:nvPr/>
        </p:nvSpPr>
        <p:spPr>
          <a:xfrm>
            <a:off x="896112" y="5559552"/>
            <a:ext cx="1828800" cy="841248"/>
          </a:xfrm>
          <a:prstGeom prst="rect">
            <a:avLst/>
          </a:prstGeom>
          <a:noFill/>
          <a:ln>
            <a:noFill/>
          </a:ln>
        </p:spPr>
        <p:txBody>
          <a:bodyPr wrap="square" lIns="0" tIns="0" rIns="0" bIns="0" rtlCol="0" anchor="ctr"/>
          <a:lstStyle/>
          <a:p>
            <a:pPr algn="l">
              <a:lnSpc>
                <a:spcPct val="100000"/>
              </a:lnSpc>
              <a:buNone/>
            </a:pPr>
            <a:r>
              <a:rPr sz="1200" b="1" i="0">
                <a:solidFill>
                  <a:srgbClr val="3A3480"/>
                </a:solidFill>
                <a:latin typeface="Times New Roman"/>
              </a:rPr>
              <a:t>Our Answer:</a:t>
            </a:r>
          </a:p>
          <a:p>
            <a:pPr algn="l">
              <a:lnSpc>
                <a:spcPct val="100000"/>
              </a:lnSpc>
              <a:buNone/>
            </a:pPr>
            <a:r>
              <a:rPr sz="1600" b="1" i="0">
                <a:solidFill>
                  <a:srgbClr val="12B84E"/>
                </a:solidFill>
                <a:latin typeface="Times New Roman"/>
              </a:rPr>
              <a:t>NIYAM</a:t>
            </a:r>
          </a:p>
        </p:txBody>
      </p:sp>
      <p:sp>
        <p:nvSpPr>
          <p:cNvPr id="8" name="Rounded Rectangle 7"/>
          <p:cNvSpPr/>
          <p:nvPr/>
        </p:nvSpPr>
        <p:spPr>
          <a:xfrm>
            <a:off x="2743200" y="5669280"/>
            <a:ext cx="2045970" cy="621792"/>
          </a:xfrm>
          <a:prstGeom prst="roundRect">
            <a:avLst>
              <a:gd name="adj" fmla="val 15000"/>
            </a:avLst>
          </a:prstGeom>
          <a:solidFill>
            <a:srgbClr val="FFFFFF"/>
          </a:solidFill>
          <a:ln w="9525">
            <a:solidFill>
              <a:srgbClr val="9DB4D6"/>
            </a:solidFill>
          </a:ln>
        </p:spPr>
        <p:txBody>
          <a:bodyPr wrap="square" lIns="54864" tIns="18288" rIns="54864" bIns="18288" rtlCol="0" anchor="ctr"/>
          <a:lstStyle/>
          <a:p>
            <a:pPr algn="ctr">
              <a:lnSpc>
                <a:spcPct val="100000"/>
              </a:lnSpc>
              <a:buNone/>
            </a:pPr>
            <a:r>
              <a:rPr sz="1150" b="1" i="0">
                <a:solidFill>
                  <a:srgbClr val="1F1A50"/>
                </a:solidFill>
                <a:latin typeface="Calibri"/>
              </a:rPr>
              <a:t>7 A2A Agents</a:t>
            </a:r>
          </a:p>
          <a:p>
            <a:pPr algn="ctr">
              <a:lnSpc>
                <a:spcPct val="100000"/>
              </a:lnSpc>
              <a:buNone/>
            </a:pPr>
            <a:r>
              <a:rPr sz="900" b="0" i="0">
                <a:solidFill>
                  <a:srgbClr val="4D4D4D"/>
                </a:solidFill>
                <a:latin typeface="Calibri"/>
              </a:rPr>
              <a:t>a Conductor and six workers, found via Agent Cards</a:t>
            </a:r>
          </a:p>
        </p:txBody>
      </p:sp>
      <p:sp>
        <p:nvSpPr>
          <p:cNvPr id="9" name="Rounded Rectangle 8"/>
          <p:cNvSpPr/>
          <p:nvPr/>
        </p:nvSpPr>
        <p:spPr>
          <a:xfrm>
            <a:off x="4926330" y="5669280"/>
            <a:ext cx="2045970" cy="621792"/>
          </a:xfrm>
          <a:prstGeom prst="roundRect">
            <a:avLst>
              <a:gd name="adj" fmla="val 15000"/>
            </a:avLst>
          </a:prstGeom>
          <a:solidFill>
            <a:srgbClr val="FFFFFF"/>
          </a:solidFill>
          <a:ln w="9525">
            <a:solidFill>
              <a:srgbClr val="9DB4D6"/>
            </a:solidFill>
          </a:ln>
        </p:spPr>
        <p:txBody>
          <a:bodyPr wrap="square" lIns="54864" tIns="18288" rIns="54864" bIns="18288" rtlCol="0" anchor="ctr"/>
          <a:lstStyle/>
          <a:p>
            <a:pPr algn="ctr">
              <a:lnSpc>
                <a:spcPct val="100000"/>
              </a:lnSpc>
              <a:buNone/>
            </a:pPr>
            <a:r>
              <a:rPr sz="1150" b="1" i="0">
                <a:solidFill>
                  <a:srgbClr val="1F1A50"/>
                </a:solidFill>
                <a:latin typeface="Calibri"/>
              </a:rPr>
              <a:t>MCP Tool Layer</a:t>
            </a:r>
          </a:p>
          <a:p>
            <a:pPr algn="ctr">
              <a:lnSpc>
                <a:spcPct val="100000"/>
              </a:lnSpc>
              <a:buNone/>
            </a:pPr>
            <a:r>
              <a:rPr sz="900" b="0" i="0">
                <a:solidFill>
                  <a:srgbClr val="4D4D4D"/>
                </a:solidFill>
                <a:latin typeface="Calibri"/>
              </a:rPr>
              <a:t>per agent allowlists, no direct system access</a:t>
            </a:r>
          </a:p>
        </p:txBody>
      </p:sp>
      <p:sp>
        <p:nvSpPr>
          <p:cNvPr id="10" name="Rounded Rectangle 9"/>
          <p:cNvSpPr/>
          <p:nvPr/>
        </p:nvSpPr>
        <p:spPr>
          <a:xfrm>
            <a:off x="7109460" y="5669280"/>
            <a:ext cx="2045970" cy="621792"/>
          </a:xfrm>
          <a:prstGeom prst="roundRect">
            <a:avLst>
              <a:gd name="adj" fmla="val 15000"/>
            </a:avLst>
          </a:prstGeom>
          <a:solidFill>
            <a:srgbClr val="FFFFFF"/>
          </a:solidFill>
          <a:ln w="9525">
            <a:solidFill>
              <a:srgbClr val="9DB4D6"/>
            </a:solidFill>
          </a:ln>
        </p:spPr>
        <p:txBody>
          <a:bodyPr wrap="square" lIns="54864" tIns="18288" rIns="54864" bIns="18288" rtlCol="0" anchor="ctr"/>
          <a:lstStyle/>
          <a:p>
            <a:pPr algn="ctr">
              <a:lnSpc>
                <a:spcPct val="100000"/>
              </a:lnSpc>
              <a:buNone/>
            </a:pPr>
            <a:r>
              <a:rPr sz="1150" b="1" i="0">
                <a:solidFill>
                  <a:srgbClr val="1F1A50"/>
                </a:solidFill>
                <a:latin typeface="Calibri"/>
              </a:rPr>
              <a:t>Knowledge Graph</a:t>
            </a:r>
          </a:p>
          <a:p>
            <a:pPr algn="ctr">
              <a:lnSpc>
                <a:spcPct val="100000"/>
              </a:lnSpc>
              <a:buNone/>
            </a:pPr>
            <a:r>
              <a:rPr sz="900" b="0" i="0">
                <a:solidFill>
                  <a:srgbClr val="4D4D4D"/>
                </a:solidFill>
                <a:latin typeface="Calibri"/>
              </a:rPr>
              <a:t>clause to rule traceability with a Bank Semantic Model</a:t>
            </a:r>
          </a:p>
        </p:txBody>
      </p:sp>
      <p:sp>
        <p:nvSpPr>
          <p:cNvPr id="11" name="Rounded Rectangle 10"/>
          <p:cNvSpPr/>
          <p:nvPr/>
        </p:nvSpPr>
        <p:spPr>
          <a:xfrm>
            <a:off x="9292590" y="5669280"/>
            <a:ext cx="2045970" cy="621792"/>
          </a:xfrm>
          <a:prstGeom prst="roundRect">
            <a:avLst>
              <a:gd name="adj" fmla="val 15000"/>
            </a:avLst>
          </a:prstGeom>
          <a:solidFill>
            <a:srgbClr val="FFFFFF"/>
          </a:solidFill>
          <a:ln w="9525">
            <a:solidFill>
              <a:srgbClr val="9DB4D6"/>
            </a:solidFill>
          </a:ln>
        </p:spPr>
        <p:txBody>
          <a:bodyPr wrap="square" lIns="54864" tIns="18288" rIns="54864" bIns="18288" rtlCol="0" anchor="ctr"/>
          <a:lstStyle/>
          <a:p>
            <a:pPr algn="ctr">
              <a:lnSpc>
                <a:spcPct val="100000"/>
              </a:lnSpc>
              <a:buNone/>
            </a:pPr>
            <a:r>
              <a:rPr sz="1150" b="1" i="0">
                <a:solidFill>
                  <a:srgbClr val="1F1A50"/>
                </a:solidFill>
                <a:latin typeface="Calibri"/>
              </a:rPr>
              <a:t>Safe Release</a:t>
            </a:r>
          </a:p>
          <a:p>
            <a:pPr algn="ctr">
              <a:lnSpc>
                <a:spcPct val="100000"/>
              </a:lnSpc>
              <a:buNone/>
            </a:pPr>
            <a:r>
              <a:rPr sz="900" b="0" i="0">
                <a:solidFill>
                  <a:srgbClr val="4D4D4D"/>
                </a:solidFill>
                <a:latin typeface="Calibri"/>
              </a:rPr>
              <a:t>two person approval, shadow, canary, auto rollback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AFB"/>
        </a:solidFill>
        <a:effectLst/>
      </p:bgPr>
    </p:bg>
    <p:spTree>
      <p:nvGrpSpPr>
        <p:cNvPr id="1" name=""/>
        <p:cNvGrpSpPr/>
        <p:nvPr/>
      </p:nvGrpSpPr>
      <p:grpSpPr>
        <a:xfrm>
          <a:off x="0" y="0"/>
          <a:ext cx="0" cy="0"/>
          <a:chOff x="0" y="0"/>
          <a:chExt cx="0" cy="0"/>
        </a:xfrm>
      </p:grpSpPr>
      <p:pic>
        <p:nvPicPr>
          <p:cNvPr id="2" name="Picture 1" descr="star.png"/>
          <p:cNvPicPr>
            <a:picLocks noChangeAspect="1"/>
          </p:cNvPicPr>
          <p:nvPr/>
        </p:nvPicPr>
        <p:blipFill>
          <a:blip r:embed="rId2"/>
          <a:stretch>
            <a:fillRect/>
          </a:stretch>
        </p:blipFill>
        <p:spPr>
          <a:xfrm>
            <a:off x="10442448" y="219456"/>
            <a:ext cx="411480" cy="411480"/>
          </a:xfrm>
          <a:prstGeom prst="rect">
            <a:avLst/>
          </a:prstGeom>
        </p:spPr>
      </p:pic>
      <p:pic>
        <p:nvPicPr>
          <p:cNvPr id="3" name="Picture 2" descr="virtusa_word.png"/>
          <p:cNvPicPr>
            <a:picLocks noChangeAspect="1"/>
          </p:cNvPicPr>
          <p:nvPr/>
        </p:nvPicPr>
        <p:blipFill>
          <a:blip r:embed="rId3"/>
          <a:stretch>
            <a:fillRect/>
          </a:stretch>
        </p:blipFill>
        <p:spPr>
          <a:xfrm>
            <a:off x="10908792" y="242316"/>
            <a:ext cx="868680" cy="367588"/>
          </a:xfrm>
          <a:prstGeom prst="rect">
            <a:avLst/>
          </a:prstGeom>
        </p:spPr>
      </p:pic>
      <p:sp>
        <p:nvSpPr>
          <p:cNvPr id="4" name="Rectangle 3"/>
          <p:cNvSpPr/>
          <p:nvPr/>
        </p:nvSpPr>
        <p:spPr>
          <a:xfrm>
            <a:off x="256032" y="292608"/>
            <a:ext cx="2514600" cy="960120"/>
          </a:xfrm>
          <a:prstGeom prst="rect">
            <a:avLst/>
          </a:prstGeom>
          <a:noFill/>
          <a:ln>
            <a:noFill/>
          </a:ln>
        </p:spPr>
        <p:txBody>
          <a:bodyPr wrap="square" lIns="0" tIns="0" rIns="0" bIns="0" rtlCol="0" anchor="t"/>
          <a:lstStyle/>
          <a:p>
            <a:pPr algn="l">
              <a:lnSpc>
                <a:spcPct val="100000"/>
              </a:lnSpc>
              <a:buNone/>
            </a:pPr>
            <a:r>
              <a:rPr sz="1900" b="1" i="0">
                <a:solidFill>
                  <a:srgbClr val="12B84E"/>
                </a:solidFill>
                <a:latin typeface="Times New Roman"/>
              </a:rPr>
              <a:t>NIYAM</a:t>
            </a:r>
            <a:r>
              <a:rPr sz="1900" b="1" i="0">
                <a:solidFill>
                  <a:srgbClr val="3A3480"/>
                </a:solidFill>
                <a:latin typeface="Times New Roman"/>
              </a:rPr>
              <a:t>: Agentic Regulatory Circular to Live Rule Engine</a:t>
            </a:r>
          </a:p>
        </p:txBody>
      </p:sp>
      <p:sp>
        <p:nvSpPr>
          <p:cNvPr id="5" name="Rectangle 4"/>
          <p:cNvSpPr/>
          <p:nvPr/>
        </p:nvSpPr>
        <p:spPr>
          <a:xfrm>
            <a:off x="256032" y="1298448"/>
            <a:ext cx="2468880" cy="329184"/>
          </a:xfrm>
          <a:prstGeom prst="rect">
            <a:avLst/>
          </a:prstGeom>
          <a:noFill/>
          <a:ln>
            <a:noFill/>
          </a:ln>
        </p:spPr>
        <p:txBody>
          <a:bodyPr wrap="square" lIns="0" tIns="0" rIns="0" bIns="0" rtlCol="0" anchor="ctr"/>
          <a:lstStyle/>
          <a:p>
            <a:pPr algn="l">
              <a:lnSpc>
                <a:spcPct val="100000"/>
              </a:lnSpc>
              <a:buNone/>
            </a:pPr>
            <a:r>
              <a:rPr sz="1700" b="1" i="0">
                <a:solidFill>
                  <a:srgbClr val="3A3480"/>
                </a:solidFill>
                <a:latin typeface="Times New Roman"/>
              </a:rPr>
              <a:t>Problem Statement</a:t>
            </a:r>
          </a:p>
        </p:txBody>
      </p:sp>
      <p:sp>
        <p:nvSpPr>
          <p:cNvPr id="6" name="Rectangle 5"/>
          <p:cNvSpPr/>
          <p:nvPr/>
        </p:nvSpPr>
        <p:spPr>
          <a:xfrm>
            <a:off x="256032" y="1664208"/>
            <a:ext cx="2331720" cy="1600200"/>
          </a:xfrm>
          <a:prstGeom prst="rect">
            <a:avLst/>
          </a:prstGeom>
          <a:noFill/>
          <a:ln>
            <a:noFill/>
          </a:ln>
        </p:spPr>
        <p:txBody>
          <a:bodyPr wrap="square" lIns="0" tIns="0" rIns="0" bIns="0" rtlCol="0" anchor="t"/>
          <a:lstStyle/>
          <a:p>
            <a:pPr algn="l">
              <a:lnSpc>
                <a:spcPct val="105000"/>
              </a:lnSpc>
              <a:buNone/>
            </a:pPr>
            <a:r>
              <a:rPr sz="1200" b="0" i="0">
                <a:solidFill>
                  <a:srgbClr val="1A1A1A"/>
                </a:solidFill>
                <a:latin typeface="Times New Roman"/>
              </a:rPr>
              <a:t>Banks interpret every RBI circular by hand, map it to policies and system rules, then wait on IT to change them. This takes weeks to months, risks missed obligations and wrong rule scope, and causes unexpected transaction impact with no clause level audit trail.</a:t>
            </a:r>
          </a:p>
        </p:txBody>
      </p:sp>
      <p:sp>
        <p:nvSpPr>
          <p:cNvPr id="7" name="Rectangle 6"/>
          <p:cNvSpPr/>
          <p:nvPr/>
        </p:nvSpPr>
        <p:spPr>
          <a:xfrm>
            <a:off x="2944368" y="457200"/>
            <a:ext cx="4572000" cy="329184"/>
          </a:xfrm>
          <a:prstGeom prst="rect">
            <a:avLst/>
          </a:prstGeom>
          <a:noFill/>
          <a:ln>
            <a:noFill/>
          </a:ln>
        </p:spPr>
        <p:txBody>
          <a:bodyPr wrap="square" lIns="0" tIns="0" rIns="0" bIns="0" rtlCol="0" anchor="ctr"/>
          <a:lstStyle/>
          <a:p>
            <a:pPr algn="l">
              <a:lnSpc>
                <a:spcPct val="100000"/>
              </a:lnSpc>
              <a:buNone/>
            </a:pPr>
            <a:r>
              <a:rPr sz="1800" b="1" i="0">
                <a:solidFill>
                  <a:srgbClr val="3A3480"/>
                </a:solidFill>
                <a:latin typeface="Times New Roman"/>
              </a:rPr>
              <a:t>Business Need/Opportunity</a:t>
            </a:r>
          </a:p>
        </p:txBody>
      </p:sp>
      <p:sp>
        <p:nvSpPr>
          <p:cNvPr id="8" name="Rectangle 7"/>
          <p:cNvSpPr/>
          <p:nvPr/>
        </p:nvSpPr>
        <p:spPr>
          <a:xfrm>
            <a:off x="2834640" y="896112"/>
            <a:ext cx="4617720" cy="2377440"/>
          </a:xfrm>
          <a:prstGeom prst="rect">
            <a:avLst/>
          </a:prstGeom>
          <a:noFill/>
          <a:ln>
            <a:noFill/>
          </a:ln>
        </p:spPr>
        <p:txBody>
          <a:bodyPr wrap="square" lIns="0" tIns="0" rIns="0" bIns="0" rtlCol="0" anchor="t"/>
          <a:lstStyle/>
          <a:p>
            <a:pPr marL="182880" indent="-182880" algn="l">
              <a:lnSpc>
                <a:spcPct val="100000"/>
              </a:lnSpc>
              <a:spcAft>
                <a:spcPts val="700"/>
              </a:spcAft>
              <a:buClr>
                <a:srgbClr val="1A1A1A"/>
              </a:buClr>
              <a:buFont typeface="Arial"/>
              <a:buChar char="•"/>
            </a:pPr>
            <a:r>
              <a:rPr sz="1250" b="1" i="0">
                <a:solidFill>
                  <a:srgbClr val="1A1A1A"/>
                </a:solidFill>
                <a:latin typeface="Times New Roman"/>
              </a:rPr>
              <a:t>Circular to Rule Automation: </a:t>
            </a:r>
            <a:r>
              <a:rPr sz="1250" b="0" i="0">
                <a:solidFill>
                  <a:srgbClr val="1A1A1A"/>
                </a:solidFill>
                <a:latin typeface="Times New Roman"/>
              </a:rPr>
              <a:t>agents read circulars, extract obligations and draft rule changes in hours instead of months</a:t>
            </a:r>
          </a:p>
          <a:p>
            <a:pPr marL="182880" indent="-182880" algn="l">
              <a:lnSpc>
                <a:spcPct val="100000"/>
              </a:lnSpc>
              <a:spcAft>
                <a:spcPts val="700"/>
              </a:spcAft>
              <a:buClr>
                <a:srgbClr val="1A1A1A"/>
              </a:buClr>
              <a:buFont typeface="Arial"/>
              <a:buChar char="•"/>
            </a:pPr>
            <a:r>
              <a:rPr sz="1250" b="1" i="0">
                <a:solidFill>
                  <a:srgbClr val="1A1A1A"/>
                </a:solidFill>
                <a:latin typeface="Times New Roman"/>
              </a:rPr>
              <a:t>Zero Missed Obligations: </a:t>
            </a:r>
            <a:r>
              <a:rPr sz="1250" b="0" i="0">
                <a:solidFill>
                  <a:srgbClr val="1A1A1A"/>
                </a:solidFill>
                <a:latin typeface="Times New Roman"/>
              </a:rPr>
              <a:t>every MUST clause maps to a rule or a signed manual control, with clause level traceability</a:t>
            </a:r>
          </a:p>
          <a:p>
            <a:pPr marL="182880" indent="-182880" algn="l">
              <a:lnSpc>
                <a:spcPct val="100000"/>
              </a:lnSpc>
              <a:spcAft>
                <a:spcPts val="700"/>
              </a:spcAft>
              <a:buClr>
                <a:srgbClr val="1A1A1A"/>
              </a:buClr>
              <a:buFont typeface="Arial"/>
              <a:buChar char="•"/>
            </a:pPr>
            <a:r>
              <a:rPr sz="1250" b="1" i="0">
                <a:solidFill>
                  <a:srgbClr val="1A1A1A"/>
                </a:solidFill>
                <a:latin typeface="Times New Roman"/>
              </a:rPr>
              <a:t>Safe Change Deployment: </a:t>
            </a:r>
            <a:r>
              <a:rPr sz="1250" b="0" i="0">
                <a:solidFill>
                  <a:srgbClr val="1A1A1A"/>
                </a:solidFill>
                <a:latin typeface="Times New Roman"/>
              </a:rPr>
              <a:t>backtesting, impact analysis, shadow mode and canary rollout with auto rollback before customers are affected</a:t>
            </a:r>
          </a:p>
          <a:p>
            <a:pPr marL="182880" indent="-182880" algn="l">
              <a:lnSpc>
                <a:spcPct val="100000"/>
              </a:lnSpc>
              <a:spcAft>
                <a:spcPts val="700"/>
              </a:spcAft>
              <a:buClr>
                <a:srgbClr val="1A1A1A"/>
              </a:buClr>
              <a:buFont typeface="Arial"/>
              <a:buChar char="•"/>
            </a:pPr>
            <a:r>
              <a:rPr sz="1250" b="1" i="0">
                <a:solidFill>
                  <a:srgbClr val="1A1A1A"/>
                </a:solidFill>
                <a:latin typeface="Times New Roman"/>
              </a:rPr>
              <a:t>Inspection Ready Compliance: </a:t>
            </a:r>
            <a:r>
              <a:rPr sz="1250" b="0" i="0">
                <a:solidFill>
                  <a:srgbClr val="1A1A1A"/>
                </a:solidFill>
                <a:latin typeface="Times New Roman"/>
              </a:rPr>
              <a:t>every live alert traces back to the circular sentence and the humans who approved it</a:t>
            </a:r>
          </a:p>
        </p:txBody>
      </p:sp>
      <p:sp>
        <p:nvSpPr>
          <p:cNvPr id="9" name="Rectangle 8"/>
          <p:cNvSpPr/>
          <p:nvPr/>
        </p:nvSpPr>
        <p:spPr>
          <a:xfrm>
            <a:off x="7973568" y="822960"/>
            <a:ext cx="3840480" cy="329184"/>
          </a:xfrm>
          <a:prstGeom prst="rect">
            <a:avLst/>
          </a:prstGeom>
          <a:noFill/>
          <a:ln>
            <a:noFill/>
          </a:ln>
        </p:spPr>
        <p:txBody>
          <a:bodyPr wrap="square" lIns="0" tIns="0" rIns="0" bIns="0" rtlCol="0" anchor="ctr"/>
          <a:lstStyle/>
          <a:p>
            <a:pPr algn="l">
              <a:lnSpc>
                <a:spcPct val="100000"/>
              </a:lnSpc>
              <a:buNone/>
            </a:pPr>
            <a:r>
              <a:rPr sz="1800" b="1" i="0">
                <a:solidFill>
                  <a:srgbClr val="3A3480"/>
                </a:solidFill>
                <a:latin typeface="Times New Roman"/>
              </a:rPr>
              <a:t>Target Segment</a:t>
            </a:r>
          </a:p>
        </p:txBody>
      </p:sp>
      <p:sp>
        <p:nvSpPr>
          <p:cNvPr id="10" name="Rectangle 9"/>
          <p:cNvSpPr/>
          <p:nvPr/>
        </p:nvSpPr>
        <p:spPr>
          <a:xfrm>
            <a:off x="7882127" y="1243584"/>
            <a:ext cx="3931920" cy="2103120"/>
          </a:xfrm>
          <a:prstGeom prst="rect">
            <a:avLst/>
          </a:prstGeom>
          <a:noFill/>
          <a:ln>
            <a:noFill/>
          </a:ln>
        </p:spPr>
        <p:txBody>
          <a:bodyPr wrap="square" lIns="0" tIns="0" rIns="0" bIns="0" rtlCol="0" anchor="t"/>
          <a:lstStyle/>
          <a:p>
            <a:pPr marL="228600" indent="-228600" algn="l">
              <a:lnSpc>
                <a:spcPct val="100000"/>
              </a:lnSpc>
              <a:spcAft>
                <a:spcPts val="700"/>
              </a:spcAft>
              <a:buClr>
                <a:srgbClr val="1A1A1A"/>
              </a:buClr>
              <a:buFont typeface="Arial"/>
              <a:buChar char="•"/>
            </a:pPr>
            <a:r>
              <a:rPr sz="1250" b="1" i="0">
                <a:solidFill>
                  <a:srgbClr val="1A1A1A"/>
                </a:solidFill>
                <a:latin typeface="Times New Roman"/>
              </a:rPr>
              <a:t>Urban Cooperative &amp; Small Finance Banks: </a:t>
            </a:r>
            <a:r>
              <a:rPr sz="1250" b="0" i="0">
                <a:solidFill>
                  <a:srgbClr val="1A1A1A"/>
                </a:solidFill>
                <a:latin typeface="Times New Roman"/>
              </a:rPr>
              <a:t>full RBI regulatory load with lean compliance teams</a:t>
            </a:r>
          </a:p>
          <a:p>
            <a:pPr marL="228600" indent="-228600" algn="l">
              <a:lnSpc>
                <a:spcPct val="100000"/>
              </a:lnSpc>
              <a:spcAft>
                <a:spcPts val="700"/>
              </a:spcAft>
              <a:buClr>
                <a:srgbClr val="1A1A1A"/>
              </a:buClr>
              <a:buFont typeface="Arial"/>
              <a:buChar char="•"/>
            </a:pPr>
            <a:r>
              <a:rPr sz="1250" b="1" i="0">
                <a:solidFill>
                  <a:srgbClr val="1A1A1A"/>
                </a:solidFill>
                <a:latin typeface="Times New Roman"/>
              </a:rPr>
              <a:t>NBFCs (Mid and Upper Layer): </a:t>
            </a:r>
            <a:r>
              <a:rPr sz="1250" b="0" i="0">
                <a:solidFill>
                  <a:srgbClr val="1A1A1A"/>
                </a:solidFill>
                <a:latin typeface="Times New Roman"/>
              </a:rPr>
              <a:t>fast changing scale based rules and digital lending norms</a:t>
            </a:r>
          </a:p>
          <a:p>
            <a:pPr marL="228600" indent="-228600" algn="l">
              <a:lnSpc>
                <a:spcPct val="100000"/>
              </a:lnSpc>
              <a:spcAft>
                <a:spcPts val="700"/>
              </a:spcAft>
              <a:buClr>
                <a:srgbClr val="1A1A1A"/>
              </a:buClr>
              <a:buFont typeface="Arial"/>
              <a:buChar char="•"/>
            </a:pPr>
            <a:r>
              <a:rPr sz="1250" b="1" i="0">
                <a:solidFill>
                  <a:srgbClr val="1A1A1A"/>
                </a:solidFill>
                <a:latin typeface="Times New Roman"/>
              </a:rPr>
              <a:t>Large Banks: </a:t>
            </a:r>
            <a:r>
              <a:rPr sz="1250" b="0" i="0">
                <a:solidFill>
                  <a:srgbClr val="1A1A1A"/>
                </a:solidFill>
                <a:latin typeface="Times New Roman"/>
              </a:rPr>
              <a:t>a regulation to rule layer over existing AML, fraud and limit engines</a:t>
            </a:r>
          </a:p>
          <a:p>
            <a:pPr marL="228600" indent="-228600" algn="l">
              <a:lnSpc>
                <a:spcPct val="100000"/>
              </a:lnSpc>
              <a:spcAft>
                <a:spcPts val="700"/>
              </a:spcAft>
              <a:buClr>
                <a:srgbClr val="1A1A1A"/>
              </a:buClr>
              <a:buFont typeface="Arial"/>
              <a:buChar char="•"/>
            </a:pPr>
            <a:r>
              <a:rPr sz="1250" b="1" i="0">
                <a:solidFill>
                  <a:srgbClr val="1A1A1A"/>
                </a:solidFill>
                <a:latin typeface="Times New Roman"/>
              </a:rPr>
              <a:t>BFSI System Integrators: </a:t>
            </a:r>
            <a:r>
              <a:rPr sz="1250" b="0" i="0">
                <a:solidFill>
                  <a:srgbClr val="1A1A1A"/>
                </a:solidFill>
                <a:latin typeface="Times New Roman"/>
              </a:rPr>
              <a:t>an accelerator for compliance transformation programs</a:t>
            </a:r>
          </a:p>
        </p:txBody>
      </p:sp>
      <p:sp>
        <p:nvSpPr>
          <p:cNvPr id="11" name="Rectangle 10"/>
          <p:cNvSpPr/>
          <p:nvPr/>
        </p:nvSpPr>
        <p:spPr>
          <a:xfrm>
            <a:off x="256032" y="3310128"/>
            <a:ext cx="4114800" cy="329184"/>
          </a:xfrm>
          <a:prstGeom prst="rect">
            <a:avLst/>
          </a:prstGeom>
          <a:noFill/>
          <a:ln>
            <a:noFill/>
          </a:ln>
        </p:spPr>
        <p:txBody>
          <a:bodyPr wrap="square" lIns="0" tIns="0" rIns="0" bIns="0" rtlCol="0" anchor="ctr"/>
          <a:lstStyle/>
          <a:p>
            <a:pPr algn="l">
              <a:lnSpc>
                <a:spcPct val="100000"/>
              </a:lnSpc>
              <a:buNone/>
            </a:pPr>
            <a:r>
              <a:rPr sz="1700" b="1" i="0">
                <a:solidFill>
                  <a:srgbClr val="3A3480"/>
                </a:solidFill>
                <a:latin typeface="Times New Roman"/>
              </a:rPr>
              <a:t>Market Size and Growth</a:t>
            </a:r>
          </a:p>
        </p:txBody>
      </p:sp>
      <p:sp>
        <p:nvSpPr>
          <p:cNvPr id="12" name="Rectangle 11"/>
          <p:cNvSpPr/>
          <p:nvPr/>
        </p:nvSpPr>
        <p:spPr>
          <a:xfrm>
            <a:off x="274320" y="3767328"/>
            <a:ext cx="2103120" cy="2514600"/>
          </a:xfrm>
          <a:prstGeom prst="rect">
            <a:avLst/>
          </a:prstGeom>
          <a:solidFill>
            <a:srgbClr val="FFFFFF"/>
          </a:solidFill>
          <a:ln w="9525">
            <a:solidFill>
              <a:srgbClr val="E3E3E3"/>
            </a:solidFill>
          </a:ln>
        </p:spPr>
        <p:txBody>
          <a:bodyPr wrap="square" lIns="0" tIns="0" rIns="0" bIns="0" rtlCol="0" anchor="t"/>
          <a:lstStyle/>
          <a:p>
            <a:endParaRPr/>
          </a:p>
        </p:txBody>
      </p:sp>
      <p:sp>
        <p:nvSpPr>
          <p:cNvPr id="13" name="Rectangle 12"/>
          <p:cNvSpPr/>
          <p:nvPr/>
        </p:nvSpPr>
        <p:spPr>
          <a:xfrm>
            <a:off x="365760" y="3822191"/>
            <a:ext cx="1965960" cy="457200"/>
          </a:xfrm>
          <a:prstGeom prst="rect">
            <a:avLst/>
          </a:prstGeom>
          <a:noFill/>
          <a:ln>
            <a:noFill/>
          </a:ln>
        </p:spPr>
        <p:txBody>
          <a:bodyPr wrap="square" lIns="0" tIns="0" rIns="0" bIns="0" rtlCol="0" anchor="t"/>
          <a:lstStyle/>
          <a:p>
            <a:pPr algn="l">
              <a:lnSpc>
                <a:spcPct val="100000"/>
              </a:lnSpc>
              <a:buNone/>
            </a:pPr>
            <a:r>
              <a:rPr sz="1000" b="1" i="0">
                <a:solidFill>
                  <a:srgbClr val="262626"/>
                </a:solidFill>
                <a:latin typeface="Calibri"/>
              </a:rPr>
              <a:t>Global RegTech Market</a:t>
            </a:r>
          </a:p>
          <a:p>
            <a:pPr algn="l">
              <a:lnSpc>
                <a:spcPct val="100000"/>
              </a:lnSpc>
              <a:buNone/>
            </a:pPr>
            <a:r>
              <a:rPr sz="800" b="0" i="0">
                <a:solidFill>
                  <a:srgbClr val="4D4D4D"/>
                </a:solidFill>
                <a:latin typeface="Calibri"/>
              </a:rPr>
              <a:t>Market size in USD Billion, analyst midpoint, CAGR </a:t>
            </a:r>
            <a:r>
              <a:rPr sz="800" b="0" i="0">
                <a:solidFill>
                  <a:srgbClr val="3B6FD8"/>
                </a:solidFill>
                <a:latin typeface="Calibri"/>
              </a:rPr>
              <a:t>~19%</a:t>
            </a:r>
          </a:p>
        </p:txBody>
      </p:sp>
      <p:graphicFrame>
        <p:nvGraphicFramePr>
          <p:cNvPr id="14" name="Chart 13"/>
          <p:cNvGraphicFramePr>
            <a:graphicFrameLocks noGrp="1"/>
          </p:cNvGraphicFramePr>
          <p:nvPr/>
        </p:nvGraphicFramePr>
        <p:xfrm>
          <a:off x="329184" y="4261104"/>
          <a:ext cx="1993392" cy="1783080"/>
        </p:xfrm>
        <a:graphic>
          <a:graphicData uri="http://schemas.openxmlformats.org/drawingml/2006/chart">
            <c:chart xmlns:c="http://schemas.openxmlformats.org/drawingml/2006/chart" xmlns:r="http://schemas.openxmlformats.org/officeDocument/2006/relationships" r:id="rId4"/>
          </a:graphicData>
        </a:graphic>
      </p:graphicFrame>
      <p:sp>
        <p:nvSpPr>
          <p:cNvPr id="15" name="Rectangle 14"/>
          <p:cNvSpPr/>
          <p:nvPr/>
        </p:nvSpPr>
        <p:spPr>
          <a:xfrm>
            <a:off x="365760" y="6035040"/>
            <a:ext cx="1965960" cy="228600"/>
          </a:xfrm>
          <a:prstGeom prst="rect">
            <a:avLst/>
          </a:prstGeom>
          <a:noFill/>
          <a:ln>
            <a:noFill/>
          </a:ln>
        </p:spPr>
        <p:txBody>
          <a:bodyPr wrap="square" lIns="0" tIns="0" rIns="0" bIns="0" rtlCol="0" anchor="ctr"/>
          <a:lstStyle/>
          <a:p>
            <a:pPr algn="l">
              <a:lnSpc>
                <a:spcPct val="100000"/>
              </a:lnSpc>
              <a:buNone/>
            </a:pPr>
            <a:r>
              <a:rPr sz="700" b="0" i="0">
                <a:solidFill>
                  <a:srgbClr val="4D4D4D"/>
                </a:solidFill>
                <a:latin typeface="Calibri"/>
              </a:rPr>
              <a:t>Sources: IMARC, ResearchAndMarkets (2025); 2030 implied at ~19% CAGR</a:t>
            </a:r>
          </a:p>
        </p:txBody>
      </p:sp>
      <p:sp>
        <p:nvSpPr>
          <p:cNvPr id="16" name="Rectangle 15"/>
          <p:cNvSpPr/>
          <p:nvPr/>
        </p:nvSpPr>
        <p:spPr>
          <a:xfrm>
            <a:off x="2487168" y="3767328"/>
            <a:ext cx="2377440" cy="2514600"/>
          </a:xfrm>
          <a:prstGeom prst="rect">
            <a:avLst/>
          </a:prstGeom>
          <a:solidFill>
            <a:srgbClr val="FFFFFF"/>
          </a:solidFill>
          <a:ln w="9525">
            <a:solidFill>
              <a:srgbClr val="E3E3E3"/>
            </a:solidFill>
          </a:ln>
        </p:spPr>
        <p:txBody>
          <a:bodyPr wrap="square" lIns="0" tIns="0" rIns="0" bIns="0" rtlCol="0" anchor="t"/>
          <a:lstStyle/>
          <a:p>
            <a:endParaRPr/>
          </a:p>
        </p:txBody>
      </p:sp>
      <p:sp>
        <p:nvSpPr>
          <p:cNvPr id="17" name="Rectangle 16"/>
          <p:cNvSpPr/>
          <p:nvPr/>
        </p:nvSpPr>
        <p:spPr>
          <a:xfrm>
            <a:off x="2560320" y="3822191"/>
            <a:ext cx="2194560" cy="228600"/>
          </a:xfrm>
          <a:prstGeom prst="rect">
            <a:avLst/>
          </a:prstGeom>
          <a:noFill/>
          <a:ln>
            <a:noFill/>
          </a:ln>
        </p:spPr>
        <p:txBody>
          <a:bodyPr wrap="square" lIns="0" tIns="0" rIns="0" bIns="0" rtlCol="0" anchor="ctr"/>
          <a:lstStyle/>
          <a:p>
            <a:pPr algn="l">
              <a:lnSpc>
                <a:spcPct val="100000"/>
              </a:lnSpc>
              <a:buNone/>
            </a:pPr>
            <a:r>
              <a:rPr sz="950" b="1" i="0">
                <a:solidFill>
                  <a:srgbClr val="262626"/>
                </a:solidFill>
                <a:latin typeface="Calibri"/>
              </a:rPr>
              <a:t>Market Overview</a:t>
            </a:r>
          </a:p>
        </p:txBody>
      </p:sp>
      <p:sp>
        <p:nvSpPr>
          <p:cNvPr id="18" name="Rectangle 17"/>
          <p:cNvSpPr/>
          <p:nvPr/>
        </p:nvSpPr>
        <p:spPr>
          <a:xfrm>
            <a:off x="2542032" y="4087368"/>
            <a:ext cx="2267712" cy="233172"/>
          </a:xfrm>
          <a:prstGeom prst="rect">
            <a:avLst/>
          </a:prstGeom>
          <a:solidFill>
            <a:srgbClr val="F3F6FA"/>
          </a:solidFill>
          <a:ln>
            <a:noFill/>
          </a:ln>
        </p:spPr>
        <p:txBody>
          <a:bodyPr rtlCol="0" anchor="ctr"/>
          <a:lstStyle/>
          <a:p>
            <a:endParaRPr/>
          </a:p>
        </p:txBody>
      </p:sp>
      <p:sp>
        <p:nvSpPr>
          <p:cNvPr id="19" name="Rectangle 18"/>
          <p:cNvSpPr/>
          <p:nvPr/>
        </p:nvSpPr>
        <p:spPr>
          <a:xfrm>
            <a:off x="2578608" y="4087368"/>
            <a:ext cx="1024128" cy="233172"/>
          </a:xfrm>
          <a:prstGeom prst="rect">
            <a:avLst/>
          </a:prstGeom>
          <a:noFill/>
          <a:ln>
            <a:noFill/>
          </a:ln>
        </p:spPr>
        <p:txBody>
          <a:bodyPr wrap="square" lIns="0" tIns="0" rIns="0" bIns="0" rtlCol="0" anchor="ctr"/>
          <a:lstStyle/>
          <a:p>
            <a:pPr algn="l">
              <a:lnSpc>
                <a:spcPct val="100000"/>
              </a:lnSpc>
              <a:buNone/>
            </a:pPr>
            <a:r>
              <a:rPr sz="750" b="0" i="0">
                <a:solidFill>
                  <a:srgbClr val="3B6FD8"/>
                </a:solidFill>
                <a:latin typeface="Calibri"/>
              </a:rPr>
              <a:t>Study Period</a:t>
            </a:r>
          </a:p>
        </p:txBody>
      </p:sp>
      <p:sp>
        <p:nvSpPr>
          <p:cNvPr id="20" name="Rectangle 19"/>
          <p:cNvSpPr/>
          <p:nvPr/>
        </p:nvSpPr>
        <p:spPr>
          <a:xfrm>
            <a:off x="3611880" y="4087368"/>
            <a:ext cx="1188720" cy="233172"/>
          </a:xfrm>
          <a:prstGeom prst="rect">
            <a:avLst/>
          </a:prstGeom>
          <a:noFill/>
          <a:ln>
            <a:noFill/>
          </a:ln>
        </p:spPr>
        <p:txBody>
          <a:bodyPr wrap="square" lIns="0" tIns="0" rIns="0" bIns="0" rtlCol="0" anchor="ctr"/>
          <a:lstStyle/>
          <a:p>
            <a:pPr algn="l">
              <a:lnSpc>
                <a:spcPct val="100000"/>
              </a:lnSpc>
              <a:buNone/>
            </a:pPr>
            <a:r>
              <a:rPr sz="750" b="0" i="0">
                <a:solidFill>
                  <a:srgbClr val="262626"/>
                </a:solidFill>
                <a:latin typeface="Calibri"/>
              </a:rPr>
              <a:t>2025 to 2030</a:t>
            </a:r>
          </a:p>
        </p:txBody>
      </p:sp>
      <p:sp>
        <p:nvSpPr>
          <p:cNvPr id="21" name="Rectangle 20"/>
          <p:cNvSpPr/>
          <p:nvPr/>
        </p:nvSpPr>
        <p:spPr>
          <a:xfrm>
            <a:off x="2578608" y="4320540"/>
            <a:ext cx="1024128" cy="233172"/>
          </a:xfrm>
          <a:prstGeom prst="rect">
            <a:avLst/>
          </a:prstGeom>
          <a:noFill/>
          <a:ln>
            <a:noFill/>
          </a:ln>
        </p:spPr>
        <p:txBody>
          <a:bodyPr wrap="square" lIns="0" tIns="0" rIns="0" bIns="0" rtlCol="0" anchor="ctr"/>
          <a:lstStyle/>
          <a:p>
            <a:pPr algn="l">
              <a:lnSpc>
                <a:spcPct val="100000"/>
              </a:lnSpc>
              <a:buNone/>
            </a:pPr>
            <a:r>
              <a:rPr sz="750" b="0" i="0">
                <a:solidFill>
                  <a:srgbClr val="3B6FD8"/>
                </a:solidFill>
                <a:latin typeface="Calibri"/>
              </a:rPr>
              <a:t>Global Market (2025)</a:t>
            </a:r>
          </a:p>
        </p:txBody>
      </p:sp>
      <p:sp>
        <p:nvSpPr>
          <p:cNvPr id="22" name="Rectangle 21"/>
          <p:cNvSpPr/>
          <p:nvPr/>
        </p:nvSpPr>
        <p:spPr>
          <a:xfrm>
            <a:off x="3611880" y="4320540"/>
            <a:ext cx="1188720" cy="233172"/>
          </a:xfrm>
          <a:prstGeom prst="rect">
            <a:avLst/>
          </a:prstGeom>
          <a:noFill/>
          <a:ln>
            <a:noFill/>
          </a:ln>
        </p:spPr>
        <p:txBody>
          <a:bodyPr wrap="square" lIns="0" tIns="0" rIns="0" bIns="0" rtlCol="0" anchor="ctr"/>
          <a:lstStyle/>
          <a:p>
            <a:pPr algn="l">
              <a:lnSpc>
                <a:spcPct val="100000"/>
              </a:lnSpc>
              <a:buNone/>
            </a:pPr>
            <a:r>
              <a:rPr sz="750" b="0" i="0">
                <a:solidFill>
                  <a:srgbClr val="262626"/>
                </a:solidFill>
                <a:latin typeface="Calibri"/>
              </a:rPr>
              <a:t>USD 15 to 19 Billion</a:t>
            </a:r>
          </a:p>
        </p:txBody>
      </p:sp>
      <p:sp>
        <p:nvSpPr>
          <p:cNvPr id="23" name="Rectangle 22"/>
          <p:cNvSpPr/>
          <p:nvPr/>
        </p:nvSpPr>
        <p:spPr>
          <a:xfrm>
            <a:off x="2542032" y="4553712"/>
            <a:ext cx="2267712" cy="233172"/>
          </a:xfrm>
          <a:prstGeom prst="rect">
            <a:avLst/>
          </a:prstGeom>
          <a:solidFill>
            <a:srgbClr val="F3F6FA"/>
          </a:solidFill>
          <a:ln>
            <a:noFill/>
          </a:ln>
        </p:spPr>
        <p:txBody>
          <a:bodyPr rtlCol="0" anchor="ctr"/>
          <a:lstStyle/>
          <a:p>
            <a:endParaRPr/>
          </a:p>
        </p:txBody>
      </p:sp>
      <p:sp>
        <p:nvSpPr>
          <p:cNvPr id="24" name="Rectangle 23"/>
          <p:cNvSpPr/>
          <p:nvPr/>
        </p:nvSpPr>
        <p:spPr>
          <a:xfrm>
            <a:off x="2578608" y="4553712"/>
            <a:ext cx="1024128" cy="233172"/>
          </a:xfrm>
          <a:prstGeom prst="rect">
            <a:avLst/>
          </a:prstGeom>
          <a:noFill/>
          <a:ln>
            <a:noFill/>
          </a:ln>
        </p:spPr>
        <p:txBody>
          <a:bodyPr wrap="square" lIns="0" tIns="0" rIns="0" bIns="0" rtlCol="0" anchor="ctr"/>
          <a:lstStyle/>
          <a:p>
            <a:pPr algn="l">
              <a:lnSpc>
                <a:spcPct val="100000"/>
              </a:lnSpc>
              <a:buNone/>
            </a:pPr>
            <a:r>
              <a:rPr sz="750" b="0" i="0">
                <a:solidFill>
                  <a:srgbClr val="3B6FD8"/>
                </a:solidFill>
                <a:latin typeface="Calibri"/>
              </a:rPr>
              <a:t>Global CAGR</a:t>
            </a:r>
          </a:p>
        </p:txBody>
      </p:sp>
      <p:sp>
        <p:nvSpPr>
          <p:cNvPr id="25" name="Rectangle 24"/>
          <p:cNvSpPr/>
          <p:nvPr/>
        </p:nvSpPr>
        <p:spPr>
          <a:xfrm>
            <a:off x="3611880" y="4553712"/>
            <a:ext cx="1188720" cy="233172"/>
          </a:xfrm>
          <a:prstGeom prst="rect">
            <a:avLst/>
          </a:prstGeom>
          <a:noFill/>
          <a:ln>
            <a:noFill/>
          </a:ln>
        </p:spPr>
        <p:txBody>
          <a:bodyPr wrap="square" lIns="0" tIns="0" rIns="0" bIns="0" rtlCol="0" anchor="ctr"/>
          <a:lstStyle/>
          <a:p>
            <a:pPr algn="l">
              <a:lnSpc>
                <a:spcPct val="100000"/>
              </a:lnSpc>
              <a:buNone/>
            </a:pPr>
            <a:r>
              <a:rPr sz="750" b="0" i="0">
                <a:solidFill>
                  <a:srgbClr val="262626"/>
                </a:solidFill>
                <a:latin typeface="Calibri"/>
              </a:rPr>
              <a:t>17% to 21%</a:t>
            </a:r>
          </a:p>
        </p:txBody>
      </p:sp>
      <p:sp>
        <p:nvSpPr>
          <p:cNvPr id="26" name="Rectangle 25"/>
          <p:cNvSpPr/>
          <p:nvPr/>
        </p:nvSpPr>
        <p:spPr>
          <a:xfrm>
            <a:off x="2578608" y="4786883"/>
            <a:ext cx="1024128" cy="233172"/>
          </a:xfrm>
          <a:prstGeom prst="rect">
            <a:avLst/>
          </a:prstGeom>
          <a:noFill/>
          <a:ln>
            <a:noFill/>
          </a:ln>
        </p:spPr>
        <p:txBody>
          <a:bodyPr wrap="square" lIns="0" tIns="0" rIns="0" bIns="0" rtlCol="0" anchor="ctr"/>
          <a:lstStyle/>
          <a:p>
            <a:pPr algn="l">
              <a:lnSpc>
                <a:spcPct val="100000"/>
              </a:lnSpc>
              <a:buNone/>
            </a:pPr>
            <a:r>
              <a:rPr sz="750" b="0" i="0">
                <a:solidFill>
                  <a:srgbClr val="3B6FD8"/>
                </a:solidFill>
                <a:latin typeface="Calibri"/>
              </a:rPr>
              <a:t>India RegTech CAGR</a:t>
            </a:r>
          </a:p>
        </p:txBody>
      </p:sp>
      <p:sp>
        <p:nvSpPr>
          <p:cNvPr id="27" name="Rectangle 26"/>
          <p:cNvSpPr/>
          <p:nvPr/>
        </p:nvSpPr>
        <p:spPr>
          <a:xfrm>
            <a:off x="3611880" y="4786883"/>
            <a:ext cx="1188720" cy="233172"/>
          </a:xfrm>
          <a:prstGeom prst="rect">
            <a:avLst/>
          </a:prstGeom>
          <a:noFill/>
          <a:ln>
            <a:noFill/>
          </a:ln>
        </p:spPr>
        <p:txBody>
          <a:bodyPr wrap="square" lIns="0" tIns="0" rIns="0" bIns="0" rtlCol="0" anchor="ctr"/>
          <a:lstStyle/>
          <a:p>
            <a:pPr algn="l">
              <a:lnSpc>
                <a:spcPct val="100000"/>
              </a:lnSpc>
              <a:buNone/>
            </a:pPr>
            <a:r>
              <a:rPr sz="750" b="0" i="0">
                <a:solidFill>
                  <a:srgbClr val="262626"/>
                </a:solidFill>
                <a:latin typeface="Calibri"/>
              </a:rPr>
              <a:t>18% to 27% (2025 to 2030)</a:t>
            </a:r>
          </a:p>
        </p:txBody>
      </p:sp>
      <p:sp>
        <p:nvSpPr>
          <p:cNvPr id="28" name="Rectangle 27"/>
          <p:cNvSpPr/>
          <p:nvPr/>
        </p:nvSpPr>
        <p:spPr>
          <a:xfrm>
            <a:off x="2542032" y="5020056"/>
            <a:ext cx="2267712" cy="233172"/>
          </a:xfrm>
          <a:prstGeom prst="rect">
            <a:avLst/>
          </a:prstGeom>
          <a:solidFill>
            <a:srgbClr val="F3F6FA"/>
          </a:solidFill>
          <a:ln>
            <a:noFill/>
          </a:ln>
        </p:spPr>
        <p:txBody>
          <a:bodyPr rtlCol="0" anchor="ctr"/>
          <a:lstStyle/>
          <a:p>
            <a:endParaRPr/>
          </a:p>
        </p:txBody>
      </p:sp>
      <p:sp>
        <p:nvSpPr>
          <p:cNvPr id="29" name="Rectangle 28"/>
          <p:cNvSpPr/>
          <p:nvPr/>
        </p:nvSpPr>
        <p:spPr>
          <a:xfrm>
            <a:off x="2578608" y="5020056"/>
            <a:ext cx="1024128" cy="233172"/>
          </a:xfrm>
          <a:prstGeom prst="rect">
            <a:avLst/>
          </a:prstGeom>
          <a:noFill/>
          <a:ln>
            <a:noFill/>
          </a:ln>
        </p:spPr>
        <p:txBody>
          <a:bodyPr wrap="square" lIns="0" tIns="0" rIns="0" bIns="0" rtlCol="0" anchor="ctr"/>
          <a:lstStyle/>
          <a:p>
            <a:pPr algn="l">
              <a:lnSpc>
                <a:spcPct val="100000"/>
              </a:lnSpc>
              <a:buNone/>
            </a:pPr>
            <a:r>
              <a:rPr sz="750" b="0" i="0">
                <a:solidFill>
                  <a:srgbClr val="3B6FD8"/>
                </a:solidFill>
                <a:latin typeface="Calibri"/>
              </a:rPr>
              <a:t>RBI Master Directions</a:t>
            </a:r>
          </a:p>
        </p:txBody>
      </p:sp>
      <p:sp>
        <p:nvSpPr>
          <p:cNvPr id="30" name="Rectangle 29"/>
          <p:cNvSpPr/>
          <p:nvPr/>
        </p:nvSpPr>
        <p:spPr>
          <a:xfrm>
            <a:off x="3611880" y="5020056"/>
            <a:ext cx="1188720" cy="233172"/>
          </a:xfrm>
          <a:prstGeom prst="rect">
            <a:avLst/>
          </a:prstGeom>
          <a:noFill/>
          <a:ln>
            <a:noFill/>
          </a:ln>
        </p:spPr>
        <p:txBody>
          <a:bodyPr wrap="square" lIns="0" tIns="0" rIns="0" bIns="0" rtlCol="0" anchor="ctr"/>
          <a:lstStyle/>
          <a:p>
            <a:pPr algn="l">
              <a:lnSpc>
                <a:spcPct val="100000"/>
              </a:lnSpc>
              <a:buNone/>
            </a:pPr>
            <a:r>
              <a:rPr sz="750" b="0" i="0">
                <a:solidFill>
                  <a:srgbClr val="262626"/>
                </a:solidFill>
                <a:latin typeface="Calibri"/>
              </a:rPr>
              <a:t>244, from 9,000+ circulars</a:t>
            </a:r>
          </a:p>
        </p:txBody>
      </p:sp>
      <p:sp>
        <p:nvSpPr>
          <p:cNvPr id="31" name="Rectangle 30"/>
          <p:cNvSpPr/>
          <p:nvPr/>
        </p:nvSpPr>
        <p:spPr>
          <a:xfrm>
            <a:off x="2578608" y="5253227"/>
            <a:ext cx="1024128" cy="233172"/>
          </a:xfrm>
          <a:prstGeom prst="rect">
            <a:avLst/>
          </a:prstGeom>
          <a:noFill/>
          <a:ln>
            <a:noFill/>
          </a:ln>
        </p:spPr>
        <p:txBody>
          <a:bodyPr wrap="square" lIns="0" tIns="0" rIns="0" bIns="0" rtlCol="0" anchor="ctr"/>
          <a:lstStyle/>
          <a:p>
            <a:pPr algn="l">
              <a:lnSpc>
                <a:spcPct val="100000"/>
              </a:lnSpc>
              <a:buNone/>
            </a:pPr>
            <a:r>
              <a:rPr sz="750" b="0" i="0">
                <a:solidFill>
                  <a:srgbClr val="3B6FD8"/>
                </a:solidFill>
                <a:latin typeface="Calibri"/>
              </a:rPr>
              <a:t>RBI Penalties (FY25)</a:t>
            </a:r>
          </a:p>
        </p:txBody>
      </p:sp>
      <p:sp>
        <p:nvSpPr>
          <p:cNvPr id="32" name="Rectangle 31"/>
          <p:cNvSpPr/>
          <p:nvPr/>
        </p:nvSpPr>
        <p:spPr>
          <a:xfrm>
            <a:off x="3611880" y="5253227"/>
            <a:ext cx="1188720" cy="233172"/>
          </a:xfrm>
          <a:prstGeom prst="rect">
            <a:avLst/>
          </a:prstGeom>
          <a:noFill/>
          <a:ln>
            <a:noFill/>
          </a:ln>
        </p:spPr>
        <p:txBody>
          <a:bodyPr wrap="square" lIns="0" tIns="0" rIns="0" bIns="0" rtlCol="0" anchor="ctr"/>
          <a:lstStyle/>
          <a:p>
            <a:pPr algn="l">
              <a:lnSpc>
                <a:spcPct val="100000"/>
              </a:lnSpc>
              <a:buNone/>
            </a:pPr>
            <a:r>
              <a:rPr sz="750" b="0" i="0">
                <a:solidFill>
                  <a:srgbClr val="262626"/>
                </a:solidFill>
                <a:latin typeface="Calibri"/>
              </a:rPr>
              <a:t>353, worth ₹54.78 cr</a:t>
            </a:r>
          </a:p>
        </p:txBody>
      </p:sp>
      <p:sp>
        <p:nvSpPr>
          <p:cNvPr id="33" name="Rectangle 32"/>
          <p:cNvSpPr/>
          <p:nvPr/>
        </p:nvSpPr>
        <p:spPr>
          <a:xfrm>
            <a:off x="2542032" y="5486400"/>
            <a:ext cx="2267712" cy="233172"/>
          </a:xfrm>
          <a:prstGeom prst="rect">
            <a:avLst/>
          </a:prstGeom>
          <a:solidFill>
            <a:srgbClr val="F3F6FA"/>
          </a:solidFill>
          <a:ln>
            <a:noFill/>
          </a:ln>
        </p:spPr>
        <p:txBody>
          <a:bodyPr rtlCol="0" anchor="ctr"/>
          <a:lstStyle/>
          <a:p>
            <a:endParaRPr/>
          </a:p>
        </p:txBody>
      </p:sp>
      <p:sp>
        <p:nvSpPr>
          <p:cNvPr id="34" name="Rectangle 33"/>
          <p:cNvSpPr/>
          <p:nvPr/>
        </p:nvSpPr>
        <p:spPr>
          <a:xfrm>
            <a:off x="2578608" y="5486400"/>
            <a:ext cx="1024128" cy="233172"/>
          </a:xfrm>
          <a:prstGeom prst="rect">
            <a:avLst/>
          </a:prstGeom>
          <a:noFill/>
          <a:ln>
            <a:noFill/>
          </a:ln>
        </p:spPr>
        <p:txBody>
          <a:bodyPr wrap="square" lIns="0" tIns="0" rIns="0" bIns="0" rtlCol="0" anchor="ctr"/>
          <a:lstStyle/>
          <a:p>
            <a:pPr algn="l">
              <a:lnSpc>
                <a:spcPct val="100000"/>
              </a:lnSpc>
              <a:buNone/>
            </a:pPr>
            <a:r>
              <a:rPr sz="750" b="0" i="0">
                <a:solidFill>
                  <a:srgbClr val="3B6FD8"/>
                </a:solidFill>
                <a:latin typeface="Calibri"/>
              </a:rPr>
              <a:t>Target Entities</a:t>
            </a:r>
          </a:p>
        </p:txBody>
      </p:sp>
      <p:sp>
        <p:nvSpPr>
          <p:cNvPr id="35" name="Rectangle 34"/>
          <p:cNvSpPr/>
          <p:nvPr/>
        </p:nvSpPr>
        <p:spPr>
          <a:xfrm>
            <a:off x="3611880" y="5486400"/>
            <a:ext cx="1188720" cy="233172"/>
          </a:xfrm>
          <a:prstGeom prst="rect">
            <a:avLst/>
          </a:prstGeom>
          <a:noFill/>
          <a:ln>
            <a:noFill/>
          </a:ln>
        </p:spPr>
        <p:txBody>
          <a:bodyPr wrap="square" lIns="0" tIns="0" rIns="0" bIns="0" rtlCol="0" anchor="ctr"/>
          <a:lstStyle/>
          <a:p>
            <a:pPr algn="l">
              <a:lnSpc>
                <a:spcPct val="100000"/>
              </a:lnSpc>
              <a:buNone/>
            </a:pPr>
            <a:r>
              <a:rPr sz="750" b="0" i="0">
                <a:solidFill>
                  <a:srgbClr val="262626"/>
                </a:solidFill>
                <a:latin typeface="Calibri"/>
              </a:rPr>
              <a:t>1,457 UCBs, 9,000+ NBFCs</a:t>
            </a:r>
          </a:p>
        </p:txBody>
      </p:sp>
      <p:sp>
        <p:nvSpPr>
          <p:cNvPr id="36" name="Rectangle 35"/>
          <p:cNvSpPr/>
          <p:nvPr/>
        </p:nvSpPr>
        <p:spPr>
          <a:xfrm>
            <a:off x="2578608" y="5719572"/>
            <a:ext cx="1024128" cy="233172"/>
          </a:xfrm>
          <a:prstGeom prst="rect">
            <a:avLst/>
          </a:prstGeom>
          <a:noFill/>
          <a:ln>
            <a:noFill/>
          </a:ln>
        </p:spPr>
        <p:txBody>
          <a:bodyPr wrap="square" lIns="0" tIns="0" rIns="0" bIns="0" rtlCol="0" anchor="ctr"/>
          <a:lstStyle/>
          <a:p>
            <a:pPr algn="l">
              <a:lnSpc>
                <a:spcPct val="100000"/>
              </a:lnSpc>
              <a:buNone/>
            </a:pPr>
            <a:r>
              <a:rPr sz="750" b="0" i="0">
                <a:solidFill>
                  <a:srgbClr val="3B6FD8"/>
                </a:solidFill>
                <a:latin typeface="Calibri"/>
              </a:rPr>
              <a:t>India SAM (est.)</a:t>
            </a:r>
          </a:p>
        </p:txBody>
      </p:sp>
      <p:sp>
        <p:nvSpPr>
          <p:cNvPr id="37" name="Rectangle 36"/>
          <p:cNvSpPr/>
          <p:nvPr/>
        </p:nvSpPr>
        <p:spPr>
          <a:xfrm>
            <a:off x="3611880" y="5719572"/>
            <a:ext cx="1188720" cy="233172"/>
          </a:xfrm>
          <a:prstGeom prst="rect">
            <a:avLst/>
          </a:prstGeom>
          <a:noFill/>
          <a:ln>
            <a:noFill/>
          </a:ln>
        </p:spPr>
        <p:txBody>
          <a:bodyPr wrap="square" lIns="0" tIns="0" rIns="0" bIns="0" rtlCol="0" anchor="ctr"/>
          <a:lstStyle/>
          <a:p>
            <a:pPr algn="l">
              <a:lnSpc>
                <a:spcPct val="100000"/>
              </a:lnSpc>
              <a:buNone/>
            </a:pPr>
            <a:r>
              <a:rPr sz="750" b="0" i="0">
                <a:solidFill>
                  <a:srgbClr val="262626"/>
                </a:solidFill>
                <a:latin typeface="Calibri"/>
              </a:rPr>
              <a:t>₹550 cr per year</a:t>
            </a:r>
          </a:p>
        </p:txBody>
      </p:sp>
      <p:sp>
        <p:nvSpPr>
          <p:cNvPr id="38" name="Rectangle 37"/>
          <p:cNvSpPr/>
          <p:nvPr/>
        </p:nvSpPr>
        <p:spPr>
          <a:xfrm>
            <a:off x="2542032" y="5952744"/>
            <a:ext cx="2267712" cy="233172"/>
          </a:xfrm>
          <a:prstGeom prst="rect">
            <a:avLst/>
          </a:prstGeom>
          <a:solidFill>
            <a:srgbClr val="F3F6FA"/>
          </a:solidFill>
          <a:ln>
            <a:noFill/>
          </a:ln>
        </p:spPr>
        <p:txBody>
          <a:bodyPr rtlCol="0" anchor="ctr"/>
          <a:lstStyle/>
          <a:p>
            <a:endParaRPr/>
          </a:p>
        </p:txBody>
      </p:sp>
      <p:sp>
        <p:nvSpPr>
          <p:cNvPr id="39" name="Rectangle 38"/>
          <p:cNvSpPr/>
          <p:nvPr/>
        </p:nvSpPr>
        <p:spPr>
          <a:xfrm>
            <a:off x="2578608" y="5952744"/>
            <a:ext cx="1024128" cy="233172"/>
          </a:xfrm>
          <a:prstGeom prst="rect">
            <a:avLst/>
          </a:prstGeom>
          <a:noFill/>
          <a:ln>
            <a:noFill/>
          </a:ln>
        </p:spPr>
        <p:txBody>
          <a:bodyPr wrap="square" lIns="0" tIns="0" rIns="0" bIns="0" rtlCol="0" anchor="ctr"/>
          <a:lstStyle/>
          <a:p>
            <a:pPr algn="l">
              <a:lnSpc>
                <a:spcPct val="100000"/>
              </a:lnSpc>
              <a:buNone/>
            </a:pPr>
            <a:r>
              <a:rPr sz="750" b="0" i="0">
                <a:solidFill>
                  <a:srgbClr val="3B6FD8"/>
                </a:solidFill>
                <a:latin typeface="Calibri"/>
              </a:rPr>
              <a:t>Key Players</a:t>
            </a:r>
          </a:p>
        </p:txBody>
      </p:sp>
      <p:sp>
        <p:nvSpPr>
          <p:cNvPr id="40" name="Rectangle 39"/>
          <p:cNvSpPr/>
          <p:nvPr/>
        </p:nvSpPr>
        <p:spPr>
          <a:xfrm>
            <a:off x="3611880" y="5952744"/>
            <a:ext cx="1188720" cy="233172"/>
          </a:xfrm>
          <a:prstGeom prst="rect">
            <a:avLst/>
          </a:prstGeom>
          <a:noFill/>
          <a:ln>
            <a:noFill/>
          </a:ln>
        </p:spPr>
        <p:txBody>
          <a:bodyPr wrap="square" lIns="0" tIns="0" rIns="0" bIns="0" rtlCol="0" anchor="ctr"/>
          <a:lstStyle/>
          <a:p>
            <a:pPr algn="l">
              <a:lnSpc>
                <a:spcPct val="100000"/>
              </a:lnSpc>
              <a:buNone/>
            </a:pPr>
            <a:r>
              <a:rPr sz="750" b="0" i="0">
                <a:solidFill>
                  <a:srgbClr val="262626"/>
                </a:solidFill>
                <a:latin typeface="Calibri"/>
              </a:rPr>
              <a:t>CUBE, Corlytics, IBM</a:t>
            </a:r>
          </a:p>
        </p:txBody>
      </p:sp>
      <p:sp>
        <p:nvSpPr>
          <p:cNvPr id="41" name="Rectangle 40"/>
          <p:cNvSpPr/>
          <p:nvPr/>
        </p:nvSpPr>
        <p:spPr>
          <a:xfrm>
            <a:off x="5029200" y="3310128"/>
            <a:ext cx="4572000" cy="329184"/>
          </a:xfrm>
          <a:prstGeom prst="rect">
            <a:avLst/>
          </a:prstGeom>
          <a:noFill/>
          <a:ln>
            <a:noFill/>
          </a:ln>
        </p:spPr>
        <p:txBody>
          <a:bodyPr wrap="square" lIns="0" tIns="0" rIns="0" bIns="0" rtlCol="0" anchor="ctr"/>
          <a:lstStyle/>
          <a:p>
            <a:pPr algn="l">
              <a:lnSpc>
                <a:spcPct val="100000"/>
              </a:lnSpc>
              <a:buNone/>
            </a:pPr>
            <a:r>
              <a:rPr sz="1800" b="1" i="0">
                <a:solidFill>
                  <a:srgbClr val="3A3480"/>
                </a:solidFill>
                <a:latin typeface="Times New Roman"/>
              </a:rPr>
              <a:t>Future Readiness</a:t>
            </a:r>
          </a:p>
        </p:txBody>
      </p:sp>
      <p:sp>
        <p:nvSpPr>
          <p:cNvPr id="42" name="Rounded Rectangle 41"/>
          <p:cNvSpPr/>
          <p:nvPr/>
        </p:nvSpPr>
        <p:spPr>
          <a:xfrm>
            <a:off x="5001768" y="3730752"/>
            <a:ext cx="6812280" cy="2871216"/>
          </a:xfrm>
          <a:prstGeom prst="roundRect">
            <a:avLst>
              <a:gd name="adj" fmla="val 4000"/>
            </a:avLst>
          </a:prstGeom>
          <a:solidFill>
            <a:srgbClr val="F2F6FC"/>
          </a:solidFill>
          <a:ln>
            <a:noFill/>
          </a:ln>
        </p:spPr>
        <p:txBody>
          <a:bodyPr wrap="square" lIns="0" tIns="0" rIns="0" bIns="0" rtlCol="0" anchor="t"/>
          <a:lstStyle/>
          <a:p>
            <a:endParaRPr/>
          </a:p>
        </p:txBody>
      </p:sp>
      <p:sp>
        <p:nvSpPr>
          <p:cNvPr id="43" name="Oval 42"/>
          <p:cNvSpPr/>
          <p:nvPr/>
        </p:nvSpPr>
        <p:spPr>
          <a:xfrm>
            <a:off x="5554979" y="3822191"/>
            <a:ext cx="347472" cy="347472"/>
          </a:xfrm>
          <a:prstGeom prst="ellipse">
            <a:avLst/>
          </a:prstGeom>
          <a:solidFill>
            <a:srgbClr val="D6E4F7"/>
          </a:solidFill>
          <a:ln>
            <a:noFill/>
          </a:ln>
        </p:spPr>
        <p:txBody>
          <a:bodyPr wrap="square" lIns="0" tIns="0" rIns="0" bIns="0" rtlCol="0" anchor="ctr"/>
          <a:lstStyle/>
          <a:p>
            <a:pPr algn="ctr">
              <a:lnSpc>
                <a:spcPct val="100000"/>
              </a:lnSpc>
              <a:buNone/>
            </a:pPr>
            <a:r>
              <a:rPr sz="1300" b="1" i="0">
                <a:solidFill>
                  <a:srgbClr val="3B6FD8"/>
                </a:solidFill>
                <a:latin typeface="Calibri"/>
              </a:rPr>
              <a:t>1</a:t>
            </a:r>
          </a:p>
        </p:txBody>
      </p:sp>
      <p:cxnSp>
        <p:nvCxnSpPr>
          <p:cNvPr id="44" name="Connector 43"/>
          <p:cNvCxnSpPr/>
          <p:nvPr/>
        </p:nvCxnSpPr>
        <p:spPr>
          <a:xfrm>
            <a:off x="5948172" y="3995928"/>
            <a:ext cx="882396" cy="0"/>
          </a:xfrm>
          <a:prstGeom prst="line">
            <a:avLst/>
          </a:prstGeom>
          <a:ln w="15875">
            <a:solidFill>
              <a:srgbClr val="8FB0DE"/>
            </a:solidFill>
            <a:prstDash val="dash"/>
          </a:ln>
        </p:spPr>
      </p:cxnSp>
      <p:cxnSp>
        <p:nvCxnSpPr>
          <p:cNvPr id="45" name="Connector 44"/>
          <p:cNvCxnSpPr/>
          <p:nvPr/>
        </p:nvCxnSpPr>
        <p:spPr>
          <a:xfrm>
            <a:off x="5728716" y="4169663"/>
            <a:ext cx="0" cy="109729"/>
          </a:xfrm>
          <a:prstGeom prst="line">
            <a:avLst/>
          </a:prstGeom>
          <a:ln w="12700">
            <a:solidFill>
              <a:srgbClr val="8FB0DE"/>
            </a:solidFill>
          </a:ln>
        </p:spPr>
      </p:cxnSp>
      <p:sp>
        <p:nvSpPr>
          <p:cNvPr id="46" name="Rounded Rectangle 45"/>
          <p:cNvSpPr/>
          <p:nvPr/>
        </p:nvSpPr>
        <p:spPr>
          <a:xfrm>
            <a:off x="5120640" y="4279392"/>
            <a:ext cx="1216152" cy="1847088"/>
          </a:xfrm>
          <a:prstGeom prst="roundRect">
            <a:avLst>
              <a:gd name="adj" fmla="val 10000"/>
            </a:avLst>
          </a:prstGeom>
          <a:solidFill>
            <a:srgbClr val="E3EDF9"/>
          </a:solidFill>
          <a:ln>
            <a:noFill/>
          </a:ln>
        </p:spPr>
        <p:txBody>
          <a:bodyPr wrap="square" lIns="0" tIns="0" rIns="0" bIns="0" rtlCol="0" anchor="t"/>
          <a:lstStyle/>
          <a:p>
            <a:endParaRPr/>
          </a:p>
        </p:txBody>
      </p:sp>
      <p:pic>
        <p:nvPicPr>
          <p:cNvPr id="47" name="Picture 46" descr="ic_search.png"/>
          <p:cNvPicPr>
            <a:picLocks noChangeAspect="1"/>
          </p:cNvPicPr>
          <p:nvPr/>
        </p:nvPicPr>
        <p:blipFill>
          <a:blip r:embed="rId5"/>
          <a:stretch>
            <a:fillRect/>
          </a:stretch>
        </p:blipFill>
        <p:spPr>
          <a:xfrm>
            <a:off x="5509259" y="4389120"/>
            <a:ext cx="438912" cy="438912"/>
          </a:xfrm>
          <a:prstGeom prst="rect">
            <a:avLst/>
          </a:prstGeom>
        </p:spPr>
      </p:pic>
      <p:sp>
        <p:nvSpPr>
          <p:cNvPr id="48" name="Rectangle 47"/>
          <p:cNvSpPr/>
          <p:nvPr/>
        </p:nvSpPr>
        <p:spPr>
          <a:xfrm>
            <a:off x="5166359" y="4882896"/>
            <a:ext cx="1124712" cy="402336"/>
          </a:xfrm>
          <a:prstGeom prst="rect">
            <a:avLst/>
          </a:prstGeom>
          <a:noFill/>
          <a:ln>
            <a:noFill/>
          </a:ln>
        </p:spPr>
        <p:txBody>
          <a:bodyPr wrap="square" lIns="0" tIns="0" rIns="0" bIns="0" rtlCol="0" anchor="t"/>
          <a:lstStyle/>
          <a:p>
            <a:pPr algn="ctr">
              <a:lnSpc>
                <a:spcPct val="100000"/>
              </a:lnSpc>
              <a:buNone/>
            </a:pPr>
            <a:r>
              <a:rPr sz="1000" b="1" i="0">
                <a:solidFill>
                  <a:srgbClr val="2F3E56"/>
                </a:solidFill>
                <a:latin typeface="Calibri"/>
              </a:rPr>
              <a:t>Research &amp;</a:t>
            </a:r>
          </a:p>
          <a:p>
            <a:pPr algn="ctr">
              <a:lnSpc>
                <a:spcPct val="100000"/>
              </a:lnSpc>
              <a:buNone/>
            </a:pPr>
            <a:r>
              <a:rPr sz="1000" b="1" i="0">
                <a:solidFill>
                  <a:srgbClr val="2F3E56"/>
                </a:solidFill>
                <a:latin typeface="Calibri"/>
              </a:rPr>
              <a:t>Design</a:t>
            </a:r>
          </a:p>
        </p:txBody>
      </p:sp>
      <p:sp>
        <p:nvSpPr>
          <p:cNvPr id="49" name="Rectangle 48"/>
          <p:cNvSpPr/>
          <p:nvPr/>
        </p:nvSpPr>
        <p:spPr>
          <a:xfrm>
            <a:off x="5193792" y="5321808"/>
            <a:ext cx="1069848" cy="786384"/>
          </a:xfrm>
          <a:prstGeom prst="rect">
            <a:avLst/>
          </a:prstGeom>
          <a:noFill/>
          <a:ln>
            <a:noFill/>
          </a:ln>
        </p:spPr>
        <p:txBody>
          <a:bodyPr wrap="square" lIns="0" tIns="0" rIns="0" bIns="0" rtlCol="0" anchor="t"/>
          <a:lstStyle/>
          <a:p>
            <a:pPr algn="ctr">
              <a:lnSpc>
                <a:spcPct val="100000"/>
              </a:lnSpc>
              <a:buNone/>
            </a:pPr>
            <a:r>
              <a:rPr sz="850" b="0" i="0">
                <a:solidFill>
                  <a:srgbClr val="3A3A3A"/>
                </a:solidFill>
                <a:latin typeface="Calibri"/>
              </a:rPr>
              <a:t>Define the obligation schema, Bank Semantic Model, agent roles and Agent Cards</a:t>
            </a:r>
          </a:p>
        </p:txBody>
      </p:sp>
      <p:sp>
        <p:nvSpPr>
          <p:cNvPr id="50" name="Oval 49"/>
          <p:cNvSpPr/>
          <p:nvPr/>
        </p:nvSpPr>
        <p:spPr>
          <a:xfrm>
            <a:off x="6876288" y="3822191"/>
            <a:ext cx="347472" cy="347472"/>
          </a:xfrm>
          <a:prstGeom prst="ellipse">
            <a:avLst/>
          </a:prstGeom>
          <a:solidFill>
            <a:srgbClr val="D6E4F7"/>
          </a:solidFill>
          <a:ln>
            <a:noFill/>
          </a:ln>
        </p:spPr>
        <p:txBody>
          <a:bodyPr wrap="square" lIns="0" tIns="0" rIns="0" bIns="0" rtlCol="0" anchor="ctr"/>
          <a:lstStyle/>
          <a:p>
            <a:pPr algn="ctr">
              <a:lnSpc>
                <a:spcPct val="100000"/>
              </a:lnSpc>
              <a:buNone/>
            </a:pPr>
            <a:r>
              <a:rPr sz="1300" b="1" i="0">
                <a:solidFill>
                  <a:srgbClr val="3B6FD8"/>
                </a:solidFill>
                <a:latin typeface="Calibri"/>
              </a:rPr>
              <a:t>2</a:t>
            </a:r>
          </a:p>
        </p:txBody>
      </p:sp>
      <p:cxnSp>
        <p:nvCxnSpPr>
          <p:cNvPr id="51" name="Connector 50"/>
          <p:cNvCxnSpPr/>
          <p:nvPr/>
        </p:nvCxnSpPr>
        <p:spPr>
          <a:xfrm>
            <a:off x="7269480" y="3995928"/>
            <a:ext cx="882395" cy="0"/>
          </a:xfrm>
          <a:prstGeom prst="line">
            <a:avLst/>
          </a:prstGeom>
          <a:ln w="15875">
            <a:solidFill>
              <a:srgbClr val="8FB0DE"/>
            </a:solidFill>
            <a:prstDash val="dash"/>
          </a:ln>
        </p:spPr>
      </p:cxnSp>
      <p:cxnSp>
        <p:nvCxnSpPr>
          <p:cNvPr id="52" name="Connector 51"/>
          <p:cNvCxnSpPr/>
          <p:nvPr/>
        </p:nvCxnSpPr>
        <p:spPr>
          <a:xfrm>
            <a:off x="7050024" y="4169663"/>
            <a:ext cx="0" cy="109729"/>
          </a:xfrm>
          <a:prstGeom prst="line">
            <a:avLst/>
          </a:prstGeom>
          <a:ln w="12700">
            <a:solidFill>
              <a:srgbClr val="8FB0DE"/>
            </a:solidFill>
          </a:ln>
        </p:spPr>
      </p:cxnSp>
      <p:sp>
        <p:nvSpPr>
          <p:cNvPr id="53" name="Rounded Rectangle 52"/>
          <p:cNvSpPr/>
          <p:nvPr/>
        </p:nvSpPr>
        <p:spPr>
          <a:xfrm>
            <a:off x="6441948" y="4279392"/>
            <a:ext cx="1216152" cy="1847088"/>
          </a:xfrm>
          <a:prstGeom prst="roundRect">
            <a:avLst>
              <a:gd name="adj" fmla="val 10000"/>
            </a:avLst>
          </a:prstGeom>
          <a:solidFill>
            <a:srgbClr val="E3EDF9"/>
          </a:solidFill>
          <a:ln>
            <a:noFill/>
          </a:ln>
        </p:spPr>
        <p:txBody>
          <a:bodyPr wrap="square" lIns="0" tIns="0" rIns="0" bIns="0" rtlCol="0" anchor="t"/>
          <a:lstStyle/>
          <a:p>
            <a:endParaRPr/>
          </a:p>
        </p:txBody>
      </p:sp>
      <p:pic>
        <p:nvPicPr>
          <p:cNvPr id="54" name="Picture 53" descr="ic_code.png"/>
          <p:cNvPicPr>
            <a:picLocks noChangeAspect="1"/>
          </p:cNvPicPr>
          <p:nvPr/>
        </p:nvPicPr>
        <p:blipFill>
          <a:blip r:embed="rId6"/>
          <a:stretch>
            <a:fillRect/>
          </a:stretch>
        </p:blipFill>
        <p:spPr>
          <a:xfrm>
            <a:off x="6830568" y="4389120"/>
            <a:ext cx="438912" cy="438912"/>
          </a:xfrm>
          <a:prstGeom prst="rect">
            <a:avLst/>
          </a:prstGeom>
        </p:spPr>
      </p:pic>
      <p:sp>
        <p:nvSpPr>
          <p:cNvPr id="55" name="Rectangle 54"/>
          <p:cNvSpPr/>
          <p:nvPr/>
        </p:nvSpPr>
        <p:spPr>
          <a:xfrm>
            <a:off x="6487668" y="4882896"/>
            <a:ext cx="1124712" cy="402336"/>
          </a:xfrm>
          <a:prstGeom prst="rect">
            <a:avLst/>
          </a:prstGeom>
          <a:noFill/>
          <a:ln>
            <a:noFill/>
          </a:ln>
        </p:spPr>
        <p:txBody>
          <a:bodyPr wrap="square" lIns="0" tIns="0" rIns="0" bIns="0" rtlCol="0" anchor="t"/>
          <a:lstStyle/>
          <a:p>
            <a:pPr algn="ctr">
              <a:lnSpc>
                <a:spcPct val="100000"/>
              </a:lnSpc>
              <a:buNone/>
            </a:pPr>
            <a:r>
              <a:rPr sz="1000" b="1" i="0">
                <a:solidFill>
                  <a:srgbClr val="2F3E56"/>
                </a:solidFill>
                <a:latin typeface="Calibri"/>
              </a:rPr>
              <a:t>PoC</a:t>
            </a:r>
          </a:p>
          <a:p>
            <a:pPr algn="ctr">
              <a:lnSpc>
                <a:spcPct val="100000"/>
              </a:lnSpc>
              <a:buNone/>
            </a:pPr>
            <a:r>
              <a:rPr sz="1000" b="1" i="0">
                <a:solidFill>
                  <a:srgbClr val="2F3E56"/>
                </a:solidFill>
                <a:latin typeface="Calibri"/>
              </a:rPr>
              <a:t>Development</a:t>
            </a:r>
          </a:p>
        </p:txBody>
      </p:sp>
      <p:sp>
        <p:nvSpPr>
          <p:cNvPr id="56" name="Rectangle 55"/>
          <p:cNvSpPr/>
          <p:nvPr/>
        </p:nvSpPr>
        <p:spPr>
          <a:xfrm>
            <a:off x="6515100" y="5321808"/>
            <a:ext cx="1069848" cy="786384"/>
          </a:xfrm>
          <a:prstGeom prst="rect">
            <a:avLst/>
          </a:prstGeom>
          <a:noFill/>
          <a:ln>
            <a:noFill/>
          </a:ln>
        </p:spPr>
        <p:txBody>
          <a:bodyPr wrap="square" lIns="0" tIns="0" rIns="0" bIns="0" rtlCol="0" anchor="t"/>
          <a:lstStyle/>
          <a:p>
            <a:pPr algn="ctr">
              <a:lnSpc>
                <a:spcPct val="100000"/>
              </a:lnSpc>
              <a:buNone/>
            </a:pPr>
            <a:r>
              <a:rPr sz="850" b="0" i="0">
                <a:solidFill>
                  <a:srgbClr val="3A3A3A"/>
                </a:solidFill>
                <a:latin typeface="Calibri"/>
              </a:rPr>
              <a:t>Build the 7 agent A2A mesh, MCP tools, rule DSL, backtest and rollback demo</a:t>
            </a:r>
          </a:p>
        </p:txBody>
      </p:sp>
      <p:sp>
        <p:nvSpPr>
          <p:cNvPr id="57" name="Oval 56"/>
          <p:cNvSpPr/>
          <p:nvPr/>
        </p:nvSpPr>
        <p:spPr>
          <a:xfrm>
            <a:off x="8197596" y="3822191"/>
            <a:ext cx="347472" cy="347472"/>
          </a:xfrm>
          <a:prstGeom prst="ellipse">
            <a:avLst/>
          </a:prstGeom>
          <a:solidFill>
            <a:srgbClr val="D6E4F7"/>
          </a:solidFill>
          <a:ln>
            <a:noFill/>
          </a:ln>
        </p:spPr>
        <p:txBody>
          <a:bodyPr wrap="square" lIns="0" tIns="0" rIns="0" bIns="0" rtlCol="0" anchor="ctr"/>
          <a:lstStyle/>
          <a:p>
            <a:pPr algn="ctr">
              <a:lnSpc>
                <a:spcPct val="100000"/>
              </a:lnSpc>
              <a:buNone/>
            </a:pPr>
            <a:r>
              <a:rPr sz="1300" b="1" i="0">
                <a:solidFill>
                  <a:srgbClr val="3B6FD8"/>
                </a:solidFill>
                <a:latin typeface="Calibri"/>
              </a:rPr>
              <a:t>3</a:t>
            </a:r>
          </a:p>
        </p:txBody>
      </p:sp>
      <p:cxnSp>
        <p:nvCxnSpPr>
          <p:cNvPr id="58" name="Connector 57"/>
          <p:cNvCxnSpPr/>
          <p:nvPr/>
        </p:nvCxnSpPr>
        <p:spPr>
          <a:xfrm>
            <a:off x="8590788" y="3995928"/>
            <a:ext cx="882396" cy="0"/>
          </a:xfrm>
          <a:prstGeom prst="line">
            <a:avLst/>
          </a:prstGeom>
          <a:ln w="15875">
            <a:solidFill>
              <a:srgbClr val="8FB0DE"/>
            </a:solidFill>
            <a:prstDash val="dash"/>
          </a:ln>
        </p:spPr>
      </p:cxnSp>
      <p:cxnSp>
        <p:nvCxnSpPr>
          <p:cNvPr id="59" name="Connector 58"/>
          <p:cNvCxnSpPr/>
          <p:nvPr/>
        </p:nvCxnSpPr>
        <p:spPr>
          <a:xfrm>
            <a:off x="8371332" y="4169663"/>
            <a:ext cx="0" cy="109729"/>
          </a:xfrm>
          <a:prstGeom prst="line">
            <a:avLst/>
          </a:prstGeom>
          <a:ln w="12700">
            <a:solidFill>
              <a:srgbClr val="8FB0DE"/>
            </a:solidFill>
          </a:ln>
        </p:spPr>
      </p:cxnSp>
      <p:sp>
        <p:nvSpPr>
          <p:cNvPr id="60" name="Rounded Rectangle 59"/>
          <p:cNvSpPr/>
          <p:nvPr/>
        </p:nvSpPr>
        <p:spPr>
          <a:xfrm>
            <a:off x="7763256" y="4279392"/>
            <a:ext cx="1216152" cy="1847088"/>
          </a:xfrm>
          <a:prstGeom prst="roundRect">
            <a:avLst>
              <a:gd name="adj" fmla="val 10000"/>
            </a:avLst>
          </a:prstGeom>
          <a:solidFill>
            <a:srgbClr val="E3EDF9"/>
          </a:solidFill>
          <a:ln>
            <a:noFill/>
          </a:ln>
        </p:spPr>
        <p:txBody>
          <a:bodyPr wrap="square" lIns="0" tIns="0" rIns="0" bIns="0" rtlCol="0" anchor="t"/>
          <a:lstStyle/>
          <a:p>
            <a:endParaRPr/>
          </a:p>
        </p:txBody>
      </p:sp>
      <p:pic>
        <p:nvPicPr>
          <p:cNvPr id="61" name="Picture 60" descr="ic_flask.png"/>
          <p:cNvPicPr>
            <a:picLocks noChangeAspect="1"/>
          </p:cNvPicPr>
          <p:nvPr/>
        </p:nvPicPr>
        <p:blipFill>
          <a:blip r:embed="rId7"/>
          <a:stretch>
            <a:fillRect/>
          </a:stretch>
        </p:blipFill>
        <p:spPr>
          <a:xfrm>
            <a:off x="8151876" y="4389120"/>
            <a:ext cx="438912" cy="438912"/>
          </a:xfrm>
          <a:prstGeom prst="rect">
            <a:avLst/>
          </a:prstGeom>
        </p:spPr>
      </p:pic>
      <p:sp>
        <p:nvSpPr>
          <p:cNvPr id="62" name="Rectangle 61"/>
          <p:cNvSpPr/>
          <p:nvPr/>
        </p:nvSpPr>
        <p:spPr>
          <a:xfrm>
            <a:off x="7808976" y="4882896"/>
            <a:ext cx="1124712" cy="402336"/>
          </a:xfrm>
          <a:prstGeom prst="rect">
            <a:avLst/>
          </a:prstGeom>
          <a:noFill/>
          <a:ln>
            <a:noFill/>
          </a:ln>
        </p:spPr>
        <p:txBody>
          <a:bodyPr wrap="square" lIns="0" tIns="0" rIns="0" bIns="0" rtlCol="0" anchor="t"/>
          <a:lstStyle/>
          <a:p>
            <a:pPr algn="ctr">
              <a:lnSpc>
                <a:spcPct val="100000"/>
              </a:lnSpc>
              <a:buNone/>
            </a:pPr>
            <a:r>
              <a:rPr sz="1000" b="1" i="0">
                <a:solidFill>
                  <a:srgbClr val="2F3E56"/>
                </a:solidFill>
                <a:latin typeface="Calibri"/>
              </a:rPr>
              <a:t>Pilot Testing</a:t>
            </a:r>
          </a:p>
          <a:p>
            <a:pPr algn="ctr">
              <a:lnSpc>
                <a:spcPct val="100000"/>
              </a:lnSpc>
              <a:buNone/>
            </a:pPr>
            <a:r>
              <a:rPr sz="1000" b="1" i="0">
                <a:solidFill>
                  <a:srgbClr val="2F3E56"/>
                </a:solidFill>
                <a:latin typeface="Calibri"/>
              </a:rPr>
              <a:t>&amp; Refinement</a:t>
            </a:r>
          </a:p>
        </p:txBody>
      </p:sp>
      <p:sp>
        <p:nvSpPr>
          <p:cNvPr id="63" name="Rectangle 62"/>
          <p:cNvSpPr/>
          <p:nvPr/>
        </p:nvSpPr>
        <p:spPr>
          <a:xfrm>
            <a:off x="7836408" y="5321808"/>
            <a:ext cx="1069848" cy="786384"/>
          </a:xfrm>
          <a:prstGeom prst="rect">
            <a:avLst/>
          </a:prstGeom>
          <a:noFill/>
          <a:ln>
            <a:noFill/>
          </a:ln>
        </p:spPr>
        <p:txBody>
          <a:bodyPr wrap="square" lIns="0" tIns="0" rIns="0" bIns="0" rtlCol="0" anchor="t"/>
          <a:lstStyle/>
          <a:p>
            <a:pPr algn="ctr">
              <a:lnSpc>
                <a:spcPct val="100000"/>
              </a:lnSpc>
              <a:buNone/>
            </a:pPr>
            <a:r>
              <a:rPr sz="850" b="0" i="0">
                <a:solidFill>
                  <a:srgbClr val="3A3A3A"/>
                </a:solidFill>
                <a:latin typeface="Calibri"/>
              </a:rPr>
              <a:t>Read only pilot with a UCB or NBFC; measure extraction accuracy and analyst time saved</a:t>
            </a:r>
          </a:p>
        </p:txBody>
      </p:sp>
      <p:sp>
        <p:nvSpPr>
          <p:cNvPr id="64" name="Oval 63"/>
          <p:cNvSpPr/>
          <p:nvPr/>
        </p:nvSpPr>
        <p:spPr>
          <a:xfrm>
            <a:off x="9518903" y="3822191"/>
            <a:ext cx="347472" cy="347472"/>
          </a:xfrm>
          <a:prstGeom prst="ellipse">
            <a:avLst/>
          </a:prstGeom>
          <a:solidFill>
            <a:srgbClr val="D6E4F7"/>
          </a:solidFill>
          <a:ln>
            <a:noFill/>
          </a:ln>
        </p:spPr>
        <p:txBody>
          <a:bodyPr wrap="square" lIns="0" tIns="0" rIns="0" bIns="0" rtlCol="0" anchor="ctr"/>
          <a:lstStyle/>
          <a:p>
            <a:pPr algn="ctr">
              <a:lnSpc>
                <a:spcPct val="100000"/>
              </a:lnSpc>
              <a:buNone/>
            </a:pPr>
            <a:r>
              <a:rPr sz="1300" b="1" i="0">
                <a:solidFill>
                  <a:srgbClr val="3B6FD8"/>
                </a:solidFill>
                <a:latin typeface="Calibri"/>
              </a:rPr>
              <a:t>4</a:t>
            </a:r>
          </a:p>
        </p:txBody>
      </p:sp>
      <p:cxnSp>
        <p:nvCxnSpPr>
          <p:cNvPr id="65" name="Connector 64"/>
          <p:cNvCxnSpPr/>
          <p:nvPr/>
        </p:nvCxnSpPr>
        <p:spPr>
          <a:xfrm>
            <a:off x="9912095" y="3995928"/>
            <a:ext cx="882396" cy="0"/>
          </a:xfrm>
          <a:prstGeom prst="line">
            <a:avLst/>
          </a:prstGeom>
          <a:ln w="15875">
            <a:solidFill>
              <a:srgbClr val="8FB0DE"/>
            </a:solidFill>
            <a:tailEnd type="triangle" w="med" len="med"/>
          </a:ln>
        </p:spPr>
      </p:cxnSp>
      <p:cxnSp>
        <p:nvCxnSpPr>
          <p:cNvPr id="66" name="Connector 65"/>
          <p:cNvCxnSpPr/>
          <p:nvPr/>
        </p:nvCxnSpPr>
        <p:spPr>
          <a:xfrm>
            <a:off x="9692639" y="4169663"/>
            <a:ext cx="0" cy="109729"/>
          </a:xfrm>
          <a:prstGeom prst="line">
            <a:avLst/>
          </a:prstGeom>
          <a:ln w="12700">
            <a:solidFill>
              <a:srgbClr val="8FB0DE"/>
            </a:solidFill>
          </a:ln>
        </p:spPr>
      </p:cxnSp>
      <p:sp>
        <p:nvSpPr>
          <p:cNvPr id="67" name="Rounded Rectangle 66"/>
          <p:cNvSpPr/>
          <p:nvPr/>
        </p:nvSpPr>
        <p:spPr>
          <a:xfrm>
            <a:off x="9084563" y="4279392"/>
            <a:ext cx="1216152" cy="1847088"/>
          </a:xfrm>
          <a:prstGeom prst="roundRect">
            <a:avLst>
              <a:gd name="adj" fmla="val 10000"/>
            </a:avLst>
          </a:prstGeom>
          <a:solidFill>
            <a:srgbClr val="E3EDF9"/>
          </a:solidFill>
          <a:ln>
            <a:noFill/>
          </a:ln>
        </p:spPr>
        <p:txBody>
          <a:bodyPr wrap="square" lIns="0" tIns="0" rIns="0" bIns="0" rtlCol="0" anchor="t"/>
          <a:lstStyle/>
          <a:p>
            <a:endParaRPr/>
          </a:p>
        </p:txBody>
      </p:sp>
      <p:pic>
        <p:nvPicPr>
          <p:cNvPr id="68" name="Picture 67" descr="ic_shield.png"/>
          <p:cNvPicPr>
            <a:picLocks noChangeAspect="1"/>
          </p:cNvPicPr>
          <p:nvPr/>
        </p:nvPicPr>
        <p:blipFill>
          <a:blip r:embed="rId8"/>
          <a:stretch>
            <a:fillRect/>
          </a:stretch>
        </p:blipFill>
        <p:spPr>
          <a:xfrm>
            <a:off x="9473183" y="4389120"/>
            <a:ext cx="438912" cy="438912"/>
          </a:xfrm>
          <a:prstGeom prst="rect">
            <a:avLst/>
          </a:prstGeom>
        </p:spPr>
      </p:pic>
      <p:sp>
        <p:nvSpPr>
          <p:cNvPr id="69" name="Rectangle 68"/>
          <p:cNvSpPr/>
          <p:nvPr/>
        </p:nvSpPr>
        <p:spPr>
          <a:xfrm>
            <a:off x="9130284" y="4882896"/>
            <a:ext cx="1124712" cy="402336"/>
          </a:xfrm>
          <a:prstGeom prst="rect">
            <a:avLst/>
          </a:prstGeom>
          <a:noFill/>
          <a:ln>
            <a:noFill/>
          </a:ln>
        </p:spPr>
        <p:txBody>
          <a:bodyPr wrap="square" lIns="0" tIns="0" rIns="0" bIns="0" rtlCol="0" anchor="t"/>
          <a:lstStyle/>
          <a:p>
            <a:pPr algn="ctr">
              <a:lnSpc>
                <a:spcPct val="100000"/>
              </a:lnSpc>
              <a:buNone/>
            </a:pPr>
            <a:r>
              <a:rPr sz="1000" b="1" i="0">
                <a:solidFill>
                  <a:srgbClr val="2F3E56"/>
                </a:solidFill>
                <a:latin typeface="Calibri"/>
              </a:rPr>
              <a:t>Enterprise Scale</a:t>
            </a:r>
          </a:p>
          <a:p>
            <a:pPr algn="ctr">
              <a:lnSpc>
                <a:spcPct val="100000"/>
              </a:lnSpc>
              <a:buNone/>
            </a:pPr>
            <a:r>
              <a:rPr sz="1000" b="1" i="0">
                <a:solidFill>
                  <a:srgbClr val="2F3E56"/>
                </a:solidFill>
                <a:latin typeface="Calibri"/>
              </a:rPr>
              <a:t>&amp; Governance</a:t>
            </a:r>
          </a:p>
        </p:txBody>
      </p:sp>
      <p:sp>
        <p:nvSpPr>
          <p:cNvPr id="70" name="Rectangle 69"/>
          <p:cNvSpPr/>
          <p:nvPr/>
        </p:nvSpPr>
        <p:spPr>
          <a:xfrm>
            <a:off x="9157715" y="5321808"/>
            <a:ext cx="1069848" cy="786384"/>
          </a:xfrm>
          <a:prstGeom prst="rect">
            <a:avLst/>
          </a:prstGeom>
          <a:noFill/>
          <a:ln>
            <a:noFill/>
          </a:ln>
        </p:spPr>
        <p:txBody>
          <a:bodyPr wrap="square" lIns="0" tIns="0" rIns="0" bIns="0" rtlCol="0" anchor="t"/>
          <a:lstStyle/>
          <a:p>
            <a:pPr algn="ctr">
              <a:lnSpc>
                <a:spcPct val="100000"/>
              </a:lnSpc>
              <a:buNone/>
            </a:pPr>
            <a:r>
              <a:rPr sz="850" b="0" i="0">
                <a:solidFill>
                  <a:srgbClr val="3A3A3A"/>
                </a:solidFill>
                <a:latin typeface="Calibri"/>
              </a:rPr>
              <a:t>Rule engine connectors, on premise LLMs and FREE-AI aligned model governance</a:t>
            </a:r>
          </a:p>
        </p:txBody>
      </p:sp>
      <p:sp>
        <p:nvSpPr>
          <p:cNvPr id="71" name="Oval 70"/>
          <p:cNvSpPr/>
          <p:nvPr/>
        </p:nvSpPr>
        <p:spPr>
          <a:xfrm>
            <a:off x="10840211" y="3822191"/>
            <a:ext cx="347472" cy="347472"/>
          </a:xfrm>
          <a:prstGeom prst="ellipse">
            <a:avLst/>
          </a:prstGeom>
          <a:solidFill>
            <a:srgbClr val="D6E4F7"/>
          </a:solidFill>
          <a:ln>
            <a:noFill/>
          </a:ln>
        </p:spPr>
        <p:txBody>
          <a:bodyPr wrap="square" lIns="0" tIns="0" rIns="0" bIns="0" rtlCol="0" anchor="ctr"/>
          <a:lstStyle/>
          <a:p>
            <a:pPr algn="ctr">
              <a:lnSpc>
                <a:spcPct val="100000"/>
              </a:lnSpc>
              <a:buNone/>
            </a:pPr>
            <a:r>
              <a:rPr sz="1300" b="1" i="0">
                <a:solidFill>
                  <a:srgbClr val="3B6FD8"/>
                </a:solidFill>
                <a:latin typeface="Calibri"/>
              </a:rPr>
              <a:t>5</a:t>
            </a:r>
          </a:p>
        </p:txBody>
      </p:sp>
      <p:cxnSp>
        <p:nvCxnSpPr>
          <p:cNvPr id="72" name="Connector 71"/>
          <p:cNvCxnSpPr/>
          <p:nvPr/>
        </p:nvCxnSpPr>
        <p:spPr>
          <a:xfrm>
            <a:off x="11013947" y="4169663"/>
            <a:ext cx="0" cy="109729"/>
          </a:xfrm>
          <a:prstGeom prst="line">
            <a:avLst/>
          </a:prstGeom>
          <a:ln w="12700">
            <a:solidFill>
              <a:srgbClr val="8FB0DE"/>
            </a:solidFill>
          </a:ln>
        </p:spPr>
      </p:cxnSp>
      <p:sp>
        <p:nvSpPr>
          <p:cNvPr id="73" name="Rounded Rectangle 72"/>
          <p:cNvSpPr/>
          <p:nvPr/>
        </p:nvSpPr>
        <p:spPr>
          <a:xfrm>
            <a:off x="10405872" y="4279392"/>
            <a:ext cx="1216152" cy="1847088"/>
          </a:xfrm>
          <a:prstGeom prst="roundRect">
            <a:avLst>
              <a:gd name="adj" fmla="val 10000"/>
            </a:avLst>
          </a:prstGeom>
          <a:solidFill>
            <a:srgbClr val="E3EDF9"/>
          </a:solidFill>
          <a:ln>
            <a:noFill/>
          </a:ln>
        </p:spPr>
        <p:txBody>
          <a:bodyPr wrap="square" lIns="0" tIns="0" rIns="0" bIns="0" rtlCol="0" anchor="t"/>
          <a:lstStyle/>
          <a:p>
            <a:endParaRPr/>
          </a:p>
        </p:txBody>
      </p:sp>
      <p:pic>
        <p:nvPicPr>
          <p:cNvPr id="74" name="Picture 73" descr="ic_rocket.png"/>
          <p:cNvPicPr>
            <a:picLocks noChangeAspect="1"/>
          </p:cNvPicPr>
          <p:nvPr/>
        </p:nvPicPr>
        <p:blipFill>
          <a:blip r:embed="rId9"/>
          <a:stretch>
            <a:fillRect/>
          </a:stretch>
        </p:blipFill>
        <p:spPr>
          <a:xfrm>
            <a:off x="10794491" y="4389120"/>
            <a:ext cx="438912" cy="438912"/>
          </a:xfrm>
          <a:prstGeom prst="rect">
            <a:avLst/>
          </a:prstGeom>
        </p:spPr>
      </p:pic>
      <p:sp>
        <p:nvSpPr>
          <p:cNvPr id="75" name="Rectangle 74"/>
          <p:cNvSpPr/>
          <p:nvPr/>
        </p:nvSpPr>
        <p:spPr>
          <a:xfrm>
            <a:off x="10451592" y="4882896"/>
            <a:ext cx="1124712" cy="402336"/>
          </a:xfrm>
          <a:prstGeom prst="rect">
            <a:avLst/>
          </a:prstGeom>
          <a:noFill/>
          <a:ln>
            <a:noFill/>
          </a:ln>
        </p:spPr>
        <p:txBody>
          <a:bodyPr wrap="square" lIns="0" tIns="0" rIns="0" bIns="0" rtlCol="0" anchor="t"/>
          <a:lstStyle/>
          <a:p>
            <a:pPr algn="ctr">
              <a:lnSpc>
                <a:spcPct val="100000"/>
              </a:lnSpc>
              <a:buNone/>
            </a:pPr>
            <a:r>
              <a:rPr sz="1000" b="1" i="0">
                <a:solidFill>
                  <a:srgbClr val="2F3E56"/>
                </a:solidFill>
                <a:latin typeface="Calibri"/>
              </a:rPr>
              <a:t>Multi-Regulator</a:t>
            </a:r>
          </a:p>
          <a:p>
            <a:pPr algn="ctr">
              <a:lnSpc>
                <a:spcPct val="100000"/>
              </a:lnSpc>
              <a:buNone/>
            </a:pPr>
            <a:r>
              <a:rPr sz="1000" b="1" i="0">
                <a:solidFill>
                  <a:srgbClr val="2F3E56"/>
                </a:solidFill>
                <a:latin typeface="Calibri"/>
              </a:rPr>
              <a:t>Launch</a:t>
            </a:r>
          </a:p>
        </p:txBody>
      </p:sp>
      <p:sp>
        <p:nvSpPr>
          <p:cNvPr id="76" name="Rectangle 75"/>
          <p:cNvSpPr/>
          <p:nvPr/>
        </p:nvSpPr>
        <p:spPr>
          <a:xfrm>
            <a:off x="10479024" y="5321808"/>
            <a:ext cx="1069848" cy="786384"/>
          </a:xfrm>
          <a:prstGeom prst="rect">
            <a:avLst/>
          </a:prstGeom>
          <a:noFill/>
          <a:ln>
            <a:noFill/>
          </a:ln>
        </p:spPr>
        <p:txBody>
          <a:bodyPr wrap="square" lIns="0" tIns="0" rIns="0" bIns="0" rtlCol="0" anchor="t"/>
          <a:lstStyle/>
          <a:p>
            <a:pPr algn="ctr">
              <a:lnSpc>
                <a:spcPct val="100000"/>
              </a:lnSpc>
              <a:buNone/>
            </a:pPr>
            <a:r>
              <a:rPr sz="850" b="0" i="0">
                <a:solidFill>
                  <a:srgbClr val="3A3A3A"/>
                </a:solidFill>
                <a:latin typeface="Calibri"/>
              </a:rPr>
              <a:t>SEBI, IRDAI and global regulator packs as a SaaS and SI accelerator</a:t>
            </a:r>
          </a:p>
        </p:txBody>
      </p:sp>
      <p:sp>
        <p:nvSpPr>
          <p:cNvPr id="77" name="Right Arrow 76"/>
          <p:cNvSpPr/>
          <p:nvPr/>
        </p:nvSpPr>
        <p:spPr>
          <a:xfrm>
            <a:off x="5257800" y="6217920"/>
            <a:ext cx="6400800" cy="274320"/>
          </a:xfrm>
          <a:prstGeom prst="rightArrow">
            <a:avLst>
              <a:gd name="adj1" fmla="val 40000"/>
              <a:gd name="adj2" fmla="val 90000"/>
            </a:avLst>
          </a:prstGeom>
          <a:solidFill>
            <a:srgbClr val="6FA8DC"/>
          </a:solidFill>
          <a:ln>
            <a:noFill/>
          </a:ln>
        </p:spPr>
        <p:txBody>
          <a:bodyPr rtlCol="0" anchor="ctr"/>
          <a:lstStyle/>
          <a:p>
            <a:endParaRPr/>
          </a:p>
        </p:txBody>
      </p:sp>
      <p:sp>
        <p:nvSpPr>
          <p:cNvPr id="78" name="Rectangle 77"/>
          <p:cNvSpPr/>
          <p:nvPr/>
        </p:nvSpPr>
        <p:spPr>
          <a:xfrm>
            <a:off x="5349240" y="6217920"/>
            <a:ext cx="5760720" cy="274320"/>
          </a:xfrm>
          <a:prstGeom prst="rect">
            <a:avLst/>
          </a:prstGeom>
          <a:noFill/>
          <a:ln>
            <a:noFill/>
          </a:ln>
        </p:spPr>
        <p:txBody>
          <a:bodyPr wrap="square" lIns="0" tIns="0" rIns="0" bIns="0" rtlCol="0" anchor="ctr"/>
          <a:lstStyle/>
          <a:p>
            <a:pPr algn="l">
              <a:lnSpc>
                <a:spcPct val="100000"/>
              </a:lnSpc>
              <a:buNone/>
            </a:pPr>
            <a:r>
              <a:rPr sz="850" b="1" i="0">
                <a:solidFill>
                  <a:srgbClr val="FFFFFF"/>
                </a:solidFill>
                <a:latin typeface="Calibri"/>
              </a:rPr>
              <a:t>PoC now  →  pilot in 0 to 3 months  →  product in 3 to 6 months  →  scale in 6 to 24 months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AFB"/>
        </a:solidFill>
        <a:effectLst/>
      </p:bgPr>
    </p:bg>
    <p:spTree>
      <p:nvGrpSpPr>
        <p:cNvPr id="1" name=""/>
        <p:cNvGrpSpPr/>
        <p:nvPr/>
      </p:nvGrpSpPr>
      <p:grpSpPr>
        <a:xfrm>
          <a:off x="0" y="0"/>
          <a:ext cx="0" cy="0"/>
          <a:chOff x="0" y="0"/>
          <a:chExt cx="0" cy="0"/>
        </a:xfrm>
      </p:grpSpPr>
      <p:pic>
        <p:nvPicPr>
          <p:cNvPr id="2" name="Picture 1" descr="star.png"/>
          <p:cNvPicPr>
            <a:picLocks noChangeAspect="1"/>
          </p:cNvPicPr>
          <p:nvPr/>
        </p:nvPicPr>
        <p:blipFill>
          <a:blip r:embed="rId2"/>
          <a:stretch>
            <a:fillRect/>
          </a:stretch>
        </p:blipFill>
        <p:spPr>
          <a:xfrm>
            <a:off x="10442448" y="219456"/>
            <a:ext cx="411480" cy="411480"/>
          </a:xfrm>
          <a:prstGeom prst="rect">
            <a:avLst/>
          </a:prstGeom>
        </p:spPr>
      </p:pic>
      <p:pic>
        <p:nvPicPr>
          <p:cNvPr id="3" name="Picture 2" descr="virtusa_word.png"/>
          <p:cNvPicPr>
            <a:picLocks noChangeAspect="1"/>
          </p:cNvPicPr>
          <p:nvPr/>
        </p:nvPicPr>
        <p:blipFill>
          <a:blip r:embed="rId3"/>
          <a:stretch>
            <a:fillRect/>
          </a:stretch>
        </p:blipFill>
        <p:spPr>
          <a:xfrm>
            <a:off x="10908792" y="242316"/>
            <a:ext cx="868680" cy="367588"/>
          </a:xfrm>
          <a:prstGeom prst="rect">
            <a:avLst/>
          </a:prstGeom>
        </p:spPr>
      </p:pic>
      <p:sp>
        <p:nvSpPr>
          <p:cNvPr id="4" name="Rectangle 3"/>
          <p:cNvSpPr/>
          <p:nvPr/>
        </p:nvSpPr>
        <p:spPr>
          <a:xfrm>
            <a:off x="566928" y="329184"/>
            <a:ext cx="4114800" cy="329184"/>
          </a:xfrm>
          <a:prstGeom prst="rect">
            <a:avLst/>
          </a:prstGeom>
          <a:noFill/>
          <a:ln>
            <a:noFill/>
          </a:ln>
        </p:spPr>
        <p:txBody>
          <a:bodyPr wrap="square" lIns="0" tIns="0" rIns="0" bIns="0" rtlCol="0" anchor="ctr"/>
          <a:lstStyle/>
          <a:p>
            <a:pPr algn="l">
              <a:lnSpc>
                <a:spcPct val="100000"/>
              </a:lnSpc>
              <a:buNone/>
            </a:pPr>
            <a:r>
              <a:rPr sz="1800" b="1" i="0">
                <a:solidFill>
                  <a:srgbClr val="3A3480"/>
                </a:solidFill>
                <a:latin typeface="Times New Roman"/>
              </a:rPr>
              <a:t>Solution Details</a:t>
            </a:r>
          </a:p>
        </p:txBody>
      </p:sp>
      <p:sp>
        <p:nvSpPr>
          <p:cNvPr id="5" name="Rectangle 4"/>
          <p:cNvSpPr/>
          <p:nvPr/>
        </p:nvSpPr>
        <p:spPr>
          <a:xfrm>
            <a:off x="566928" y="713232"/>
            <a:ext cx="4526280" cy="2926080"/>
          </a:xfrm>
          <a:prstGeom prst="rect">
            <a:avLst/>
          </a:prstGeom>
          <a:noFill/>
          <a:ln>
            <a:noFill/>
          </a:ln>
        </p:spPr>
        <p:txBody>
          <a:bodyPr wrap="square" lIns="0" tIns="0" rIns="0" bIns="0" rtlCol="0" anchor="t"/>
          <a:lstStyle/>
          <a:p>
            <a:pPr marL="164592" indent="-164592" algn="l">
              <a:lnSpc>
                <a:spcPct val="100000"/>
              </a:lnSpc>
              <a:spcAft>
                <a:spcPts val="500"/>
              </a:spcAft>
              <a:buClr>
                <a:srgbClr val="1A1A1A"/>
              </a:buClr>
              <a:buFont typeface="Arial"/>
              <a:buChar char="•"/>
            </a:pPr>
            <a:r>
              <a:rPr sz="1200" b="1" i="0">
                <a:solidFill>
                  <a:srgbClr val="1A1A1A"/>
                </a:solidFill>
                <a:latin typeface="Times New Roman"/>
              </a:rPr>
              <a:t>Multi-Agent Regulatory Intelligence: </a:t>
            </a:r>
            <a:r>
              <a:rPr sz="1200" b="0" i="0">
                <a:solidFill>
                  <a:srgbClr val="1A1A1A"/>
                </a:solidFill>
                <a:latin typeface="Times New Roman"/>
              </a:rPr>
              <a:t>seven agents (a Conductor and six workers) read, scope and extract obligations from each circular and collaborate over the A2A protocol, discovered through their Agent Cards.</a:t>
            </a:r>
          </a:p>
          <a:p>
            <a:pPr marL="164592" indent="-164592" algn="l">
              <a:lnSpc>
                <a:spcPct val="100000"/>
              </a:lnSpc>
              <a:spcAft>
                <a:spcPts val="500"/>
              </a:spcAft>
              <a:buClr>
                <a:srgbClr val="1A1A1A"/>
              </a:buClr>
              <a:buFont typeface="Arial"/>
              <a:buChar char="•"/>
            </a:pPr>
            <a:r>
              <a:rPr sz="1200" b="1" i="0">
                <a:solidFill>
                  <a:srgbClr val="1A1A1A"/>
                </a:solidFill>
                <a:latin typeface="Times New Roman"/>
              </a:rPr>
              <a:t>Knowledge Graph &amp; Semantic Model: </a:t>
            </a:r>
            <a:r>
              <a:rPr sz="1200" b="0" i="0">
                <a:solidFill>
                  <a:srgbClr val="1A1A1A"/>
                </a:solidFill>
                <a:latin typeface="Times New Roman"/>
              </a:rPr>
              <a:t>a Regulatory Knowledge Graph, modelled for Neo4j, links circulars, clauses, obligations, policies and rules, while a Bank Semantic Model maps regulatory language to the bank’s own data.</a:t>
            </a:r>
          </a:p>
          <a:p>
            <a:pPr marL="164592" indent="-164592" algn="l">
              <a:lnSpc>
                <a:spcPct val="100000"/>
              </a:lnSpc>
              <a:spcAft>
                <a:spcPts val="500"/>
              </a:spcAft>
              <a:buClr>
                <a:srgbClr val="1A1A1A"/>
              </a:buClr>
              <a:buFont typeface="Arial"/>
              <a:buChar char="•"/>
            </a:pPr>
            <a:r>
              <a:rPr sz="1200" b="1" i="0">
                <a:solidFill>
                  <a:srgbClr val="1A1A1A"/>
                </a:solidFill>
                <a:latin typeface="Times New Roman"/>
              </a:rPr>
              <a:t>Safe Rule Lifecycle: </a:t>
            </a:r>
            <a:r>
              <a:rPr sz="1200" b="0" i="0">
                <a:solidFill>
                  <a:srgbClr val="1A1A1A"/>
                </a:solidFill>
                <a:latin typeface="Times New Roman"/>
              </a:rPr>
              <a:t>rules are drafted in a typed DSL, backtested on transaction history, validated, approved by two humans, then released through shadow, canary and live with auto rollback.</a:t>
            </a:r>
          </a:p>
          <a:p>
            <a:pPr marL="164592" indent="-164592" algn="l">
              <a:lnSpc>
                <a:spcPct val="100000"/>
              </a:lnSpc>
              <a:spcAft>
                <a:spcPts val="500"/>
              </a:spcAft>
              <a:buClr>
                <a:srgbClr val="1A1A1A"/>
              </a:buClr>
              <a:buFont typeface="Arial"/>
              <a:buChar char="•"/>
            </a:pPr>
            <a:r>
              <a:rPr sz="1200" b="1" i="0">
                <a:solidFill>
                  <a:srgbClr val="1A1A1A"/>
                </a:solidFill>
                <a:latin typeface="Times New Roman"/>
              </a:rPr>
              <a:t>Governed by Design: </a:t>
            </a:r>
            <a:r>
              <a:rPr sz="1200" b="0" i="0">
                <a:solidFill>
                  <a:srgbClr val="1A1A1A"/>
                </a:solidFill>
                <a:latin typeface="Times New Roman"/>
              </a:rPr>
              <a:t>tools are reached only through MCP with per agent allowlists; every action is logged with clause level provenance under token and iteration limits.</a:t>
            </a:r>
          </a:p>
        </p:txBody>
      </p:sp>
      <p:sp>
        <p:nvSpPr>
          <p:cNvPr id="6" name="Rectangle 5"/>
          <p:cNvSpPr/>
          <p:nvPr/>
        </p:nvSpPr>
        <p:spPr>
          <a:xfrm>
            <a:off x="5349240" y="566928"/>
            <a:ext cx="4937760" cy="329184"/>
          </a:xfrm>
          <a:prstGeom prst="rect">
            <a:avLst/>
          </a:prstGeom>
          <a:noFill/>
          <a:ln>
            <a:noFill/>
          </a:ln>
        </p:spPr>
        <p:txBody>
          <a:bodyPr wrap="square" lIns="0" tIns="0" rIns="0" bIns="0" rtlCol="0" anchor="ctr"/>
          <a:lstStyle/>
          <a:p>
            <a:pPr algn="l">
              <a:lnSpc>
                <a:spcPct val="100000"/>
              </a:lnSpc>
              <a:buNone/>
            </a:pPr>
            <a:r>
              <a:rPr sz="1700" b="1" i="0">
                <a:solidFill>
                  <a:srgbClr val="3A3480"/>
                </a:solidFill>
                <a:latin typeface="Times New Roman"/>
              </a:rPr>
              <a:t>Circular to Rule Compilation Engine (CRCE)</a:t>
            </a:r>
          </a:p>
        </p:txBody>
      </p:sp>
      <p:sp>
        <p:nvSpPr>
          <p:cNvPr id="7" name="Oval 6"/>
          <p:cNvSpPr/>
          <p:nvPr/>
        </p:nvSpPr>
        <p:spPr>
          <a:xfrm>
            <a:off x="5646419" y="1024128"/>
            <a:ext cx="731520" cy="731520"/>
          </a:xfrm>
          <a:prstGeom prst="ellipse">
            <a:avLst/>
          </a:prstGeom>
          <a:solidFill>
            <a:srgbClr val="FFFFFF"/>
          </a:solidFill>
          <a:ln w="25400">
            <a:solidFill>
              <a:srgbClr val="3B6FD8"/>
            </a:solidFill>
          </a:ln>
        </p:spPr>
        <p:txBody>
          <a:bodyPr wrap="square" lIns="0" tIns="0" rIns="0" bIns="0" rtlCol="0" anchor="ctr"/>
          <a:lstStyle/>
          <a:p>
            <a:pPr algn="ctr">
              <a:lnSpc>
                <a:spcPct val="100000"/>
              </a:lnSpc>
              <a:buNone/>
            </a:pPr>
            <a:r>
              <a:rPr sz="800" b="1" i="0">
                <a:solidFill>
                  <a:srgbClr val="1F2A44"/>
                </a:solidFill>
                <a:latin typeface="Calibri"/>
              </a:rPr>
              <a:t>Circular</a:t>
            </a:r>
          </a:p>
          <a:p>
            <a:pPr algn="ctr">
              <a:lnSpc>
                <a:spcPct val="100000"/>
              </a:lnSpc>
              <a:buNone/>
            </a:pPr>
            <a:r>
              <a:rPr sz="800" b="1" i="0">
                <a:solidFill>
                  <a:srgbClr val="1F2A44"/>
                </a:solidFill>
                <a:latin typeface="Calibri"/>
              </a:rPr>
              <a:t>Intake</a:t>
            </a:r>
          </a:p>
        </p:txBody>
      </p:sp>
      <p:sp>
        <p:nvSpPr>
          <p:cNvPr id="8" name="Rectangle 7"/>
          <p:cNvSpPr/>
          <p:nvPr/>
        </p:nvSpPr>
        <p:spPr>
          <a:xfrm>
            <a:off x="5408675" y="1783080"/>
            <a:ext cx="1207008" cy="457200"/>
          </a:xfrm>
          <a:prstGeom prst="rect">
            <a:avLst/>
          </a:prstGeom>
          <a:noFill/>
          <a:ln>
            <a:noFill/>
          </a:ln>
        </p:spPr>
        <p:txBody>
          <a:bodyPr wrap="square" lIns="0" tIns="0" rIns="0" bIns="0" rtlCol="0" anchor="t"/>
          <a:lstStyle/>
          <a:p>
            <a:pPr algn="ctr">
              <a:lnSpc>
                <a:spcPct val="100000"/>
              </a:lnSpc>
              <a:buNone/>
            </a:pPr>
            <a:r>
              <a:rPr sz="850" b="0" i="0">
                <a:solidFill>
                  <a:srgbClr val="3A3A3A"/>
                </a:solidFill>
                <a:latin typeface="Calibri"/>
              </a:rPr>
              <a:t>Parses PDF, segments clauses, links the amended direction</a:t>
            </a:r>
          </a:p>
        </p:txBody>
      </p:sp>
      <p:sp>
        <p:nvSpPr>
          <p:cNvPr id="9" name="Oval 8"/>
          <p:cNvSpPr/>
          <p:nvPr/>
        </p:nvSpPr>
        <p:spPr>
          <a:xfrm>
            <a:off x="6972299" y="1024128"/>
            <a:ext cx="731520" cy="731520"/>
          </a:xfrm>
          <a:prstGeom prst="ellipse">
            <a:avLst/>
          </a:prstGeom>
          <a:solidFill>
            <a:srgbClr val="FFFFFF"/>
          </a:solidFill>
          <a:ln w="25400">
            <a:solidFill>
              <a:srgbClr val="3B6FD8"/>
            </a:solidFill>
          </a:ln>
        </p:spPr>
        <p:txBody>
          <a:bodyPr wrap="square" lIns="0" tIns="0" rIns="0" bIns="0" rtlCol="0" anchor="ctr"/>
          <a:lstStyle/>
          <a:p>
            <a:pPr algn="ctr">
              <a:lnSpc>
                <a:spcPct val="100000"/>
              </a:lnSpc>
              <a:buNone/>
            </a:pPr>
            <a:r>
              <a:rPr sz="750" b="1" i="0">
                <a:solidFill>
                  <a:srgbClr val="1F2A44"/>
                </a:solidFill>
                <a:latin typeface="Calibri"/>
              </a:rPr>
              <a:t>Applicability</a:t>
            </a:r>
          </a:p>
        </p:txBody>
      </p:sp>
      <p:sp>
        <p:nvSpPr>
          <p:cNvPr id="10" name="Rectangle 9"/>
          <p:cNvSpPr/>
          <p:nvPr/>
        </p:nvSpPr>
        <p:spPr>
          <a:xfrm>
            <a:off x="6734555" y="1783080"/>
            <a:ext cx="1207008" cy="457200"/>
          </a:xfrm>
          <a:prstGeom prst="rect">
            <a:avLst/>
          </a:prstGeom>
          <a:noFill/>
          <a:ln>
            <a:noFill/>
          </a:ln>
        </p:spPr>
        <p:txBody>
          <a:bodyPr wrap="square" lIns="0" tIns="0" rIns="0" bIns="0" rtlCol="0" anchor="t"/>
          <a:lstStyle/>
          <a:p>
            <a:pPr algn="ctr">
              <a:lnSpc>
                <a:spcPct val="100000"/>
              </a:lnSpc>
              <a:buNone/>
            </a:pPr>
            <a:r>
              <a:rPr sz="850" b="0" i="0">
                <a:solidFill>
                  <a:srgbClr val="3A3A3A"/>
                </a:solidFill>
                <a:latin typeface="Calibri"/>
              </a:rPr>
              <a:t>Matches clause scope to the bank profile</a:t>
            </a:r>
          </a:p>
        </p:txBody>
      </p:sp>
      <p:sp>
        <p:nvSpPr>
          <p:cNvPr id="11" name="Oval 10"/>
          <p:cNvSpPr/>
          <p:nvPr/>
        </p:nvSpPr>
        <p:spPr>
          <a:xfrm>
            <a:off x="8298179" y="1024128"/>
            <a:ext cx="731520" cy="731520"/>
          </a:xfrm>
          <a:prstGeom prst="ellipse">
            <a:avLst/>
          </a:prstGeom>
          <a:solidFill>
            <a:srgbClr val="FFFFFF"/>
          </a:solidFill>
          <a:ln w="25400">
            <a:solidFill>
              <a:srgbClr val="3B6FD8"/>
            </a:solidFill>
          </a:ln>
        </p:spPr>
        <p:txBody>
          <a:bodyPr wrap="square" lIns="0" tIns="0" rIns="0" bIns="0" rtlCol="0" anchor="ctr"/>
          <a:lstStyle/>
          <a:p>
            <a:pPr algn="ctr">
              <a:lnSpc>
                <a:spcPct val="100000"/>
              </a:lnSpc>
              <a:buNone/>
            </a:pPr>
            <a:r>
              <a:rPr sz="800" b="1" i="0">
                <a:solidFill>
                  <a:srgbClr val="1F2A44"/>
                </a:solidFill>
                <a:latin typeface="Calibri"/>
              </a:rPr>
              <a:t>Obligation</a:t>
            </a:r>
          </a:p>
          <a:p>
            <a:pPr algn="ctr">
              <a:lnSpc>
                <a:spcPct val="100000"/>
              </a:lnSpc>
              <a:buNone/>
            </a:pPr>
            <a:r>
              <a:rPr sz="800" b="1" i="0">
                <a:solidFill>
                  <a:srgbClr val="1F2A44"/>
                </a:solidFill>
                <a:latin typeface="Calibri"/>
              </a:rPr>
              <a:t>Extraction</a:t>
            </a:r>
          </a:p>
        </p:txBody>
      </p:sp>
      <p:sp>
        <p:nvSpPr>
          <p:cNvPr id="12" name="Rectangle 11"/>
          <p:cNvSpPr/>
          <p:nvPr/>
        </p:nvSpPr>
        <p:spPr>
          <a:xfrm>
            <a:off x="8060436" y="1783080"/>
            <a:ext cx="1207008" cy="457200"/>
          </a:xfrm>
          <a:prstGeom prst="rect">
            <a:avLst/>
          </a:prstGeom>
          <a:noFill/>
          <a:ln>
            <a:noFill/>
          </a:ln>
        </p:spPr>
        <p:txBody>
          <a:bodyPr wrap="square" lIns="0" tIns="0" rIns="0" bIns="0" rtlCol="0" anchor="t"/>
          <a:lstStyle/>
          <a:p>
            <a:pPr algn="ctr">
              <a:lnSpc>
                <a:spcPct val="100000"/>
              </a:lnSpc>
              <a:buNone/>
            </a:pPr>
            <a:r>
              <a:rPr sz="850" b="0" i="0">
                <a:solidFill>
                  <a:srgbClr val="3A3A3A"/>
                </a:solidFill>
                <a:latin typeface="Calibri"/>
              </a:rPr>
              <a:t>MUST, MUST NOT, MAY with exact source span</a:t>
            </a:r>
          </a:p>
        </p:txBody>
      </p:sp>
      <p:sp>
        <p:nvSpPr>
          <p:cNvPr id="13" name="Oval 12"/>
          <p:cNvSpPr/>
          <p:nvPr/>
        </p:nvSpPr>
        <p:spPr>
          <a:xfrm>
            <a:off x="9624059" y="1024128"/>
            <a:ext cx="731520" cy="731520"/>
          </a:xfrm>
          <a:prstGeom prst="ellipse">
            <a:avLst/>
          </a:prstGeom>
          <a:solidFill>
            <a:srgbClr val="FFFFFF"/>
          </a:solidFill>
          <a:ln w="25400">
            <a:solidFill>
              <a:srgbClr val="3B6FD8"/>
            </a:solidFill>
          </a:ln>
        </p:spPr>
        <p:txBody>
          <a:bodyPr wrap="square" lIns="0" tIns="0" rIns="0" bIns="0" rtlCol="0" anchor="ctr"/>
          <a:lstStyle/>
          <a:p>
            <a:pPr algn="ctr">
              <a:lnSpc>
                <a:spcPct val="100000"/>
              </a:lnSpc>
              <a:buNone/>
            </a:pPr>
            <a:r>
              <a:rPr sz="800" b="1" i="0">
                <a:solidFill>
                  <a:srgbClr val="1F2A44"/>
                </a:solidFill>
                <a:latin typeface="Calibri"/>
              </a:rPr>
              <a:t>Policy</a:t>
            </a:r>
          </a:p>
          <a:p>
            <a:pPr algn="ctr">
              <a:lnSpc>
                <a:spcPct val="100000"/>
              </a:lnSpc>
              <a:buNone/>
            </a:pPr>
            <a:r>
              <a:rPr sz="800" b="1" i="0">
                <a:solidFill>
                  <a:srgbClr val="1F2A44"/>
                </a:solidFill>
                <a:latin typeface="Calibri"/>
              </a:rPr>
              <a:t>Mapping</a:t>
            </a:r>
          </a:p>
        </p:txBody>
      </p:sp>
      <p:sp>
        <p:nvSpPr>
          <p:cNvPr id="14" name="Rectangle 13"/>
          <p:cNvSpPr/>
          <p:nvPr/>
        </p:nvSpPr>
        <p:spPr>
          <a:xfrm>
            <a:off x="9386315" y="1783080"/>
            <a:ext cx="1207008" cy="457200"/>
          </a:xfrm>
          <a:prstGeom prst="rect">
            <a:avLst/>
          </a:prstGeom>
          <a:noFill/>
          <a:ln>
            <a:noFill/>
          </a:ln>
        </p:spPr>
        <p:txBody>
          <a:bodyPr wrap="square" lIns="0" tIns="0" rIns="0" bIns="0" rtlCol="0" anchor="t"/>
          <a:lstStyle/>
          <a:p>
            <a:pPr algn="ctr">
              <a:lnSpc>
                <a:spcPct val="100000"/>
              </a:lnSpc>
              <a:buNone/>
            </a:pPr>
            <a:r>
              <a:rPr sz="850" b="0" i="0">
                <a:solidFill>
                  <a:srgbClr val="3A3A3A"/>
                </a:solidFill>
                <a:latin typeface="Calibri"/>
              </a:rPr>
              <a:t>Finds affected policies and rules in the graph</a:t>
            </a:r>
          </a:p>
        </p:txBody>
      </p:sp>
      <p:sp>
        <p:nvSpPr>
          <p:cNvPr id="15" name="Oval 14"/>
          <p:cNvSpPr/>
          <p:nvPr/>
        </p:nvSpPr>
        <p:spPr>
          <a:xfrm>
            <a:off x="10949940" y="1024128"/>
            <a:ext cx="731520" cy="731520"/>
          </a:xfrm>
          <a:prstGeom prst="ellipse">
            <a:avLst/>
          </a:prstGeom>
          <a:solidFill>
            <a:srgbClr val="FFFFFF"/>
          </a:solidFill>
          <a:ln w="25400">
            <a:solidFill>
              <a:srgbClr val="3B6FD8"/>
            </a:solidFill>
          </a:ln>
        </p:spPr>
        <p:txBody>
          <a:bodyPr wrap="square" lIns="0" tIns="0" rIns="0" bIns="0" rtlCol="0" anchor="ctr"/>
          <a:lstStyle/>
          <a:p>
            <a:pPr algn="ctr">
              <a:lnSpc>
                <a:spcPct val="100000"/>
              </a:lnSpc>
              <a:buNone/>
            </a:pPr>
            <a:r>
              <a:rPr sz="800" b="1" i="0">
                <a:solidFill>
                  <a:srgbClr val="1F2A44"/>
                </a:solidFill>
                <a:latin typeface="Calibri"/>
              </a:rPr>
              <a:t>Rule</a:t>
            </a:r>
          </a:p>
          <a:p>
            <a:pPr algn="ctr">
              <a:lnSpc>
                <a:spcPct val="100000"/>
              </a:lnSpc>
              <a:buNone/>
            </a:pPr>
            <a:r>
              <a:rPr sz="800" b="1" i="0">
                <a:solidFill>
                  <a:srgbClr val="1F2A44"/>
                </a:solidFill>
                <a:latin typeface="Calibri"/>
              </a:rPr>
              <a:t>Authoring</a:t>
            </a:r>
          </a:p>
        </p:txBody>
      </p:sp>
      <p:sp>
        <p:nvSpPr>
          <p:cNvPr id="16" name="Rectangle 15"/>
          <p:cNvSpPr/>
          <p:nvPr/>
        </p:nvSpPr>
        <p:spPr>
          <a:xfrm>
            <a:off x="10712196" y="1783080"/>
            <a:ext cx="1207008" cy="457200"/>
          </a:xfrm>
          <a:prstGeom prst="rect">
            <a:avLst/>
          </a:prstGeom>
          <a:noFill/>
          <a:ln>
            <a:noFill/>
          </a:ln>
        </p:spPr>
        <p:txBody>
          <a:bodyPr wrap="square" lIns="0" tIns="0" rIns="0" bIns="0" rtlCol="0" anchor="t"/>
          <a:lstStyle/>
          <a:p>
            <a:pPr algn="ctr">
              <a:lnSpc>
                <a:spcPct val="100000"/>
              </a:lnSpc>
              <a:buNone/>
            </a:pPr>
            <a:r>
              <a:rPr sz="850" b="0" i="0">
                <a:solidFill>
                  <a:srgbClr val="3A3A3A"/>
                </a:solidFill>
                <a:latin typeface="Calibri"/>
              </a:rPr>
              <a:t>Typed DSL draft on a git branch</a:t>
            </a:r>
          </a:p>
        </p:txBody>
      </p:sp>
      <p:sp>
        <p:nvSpPr>
          <p:cNvPr id="17" name="Oval 16"/>
          <p:cNvSpPr/>
          <p:nvPr/>
        </p:nvSpPr>
        <p:spPr>
          <a:xfrm>
            <a:off x="10949940" y="2377440"/>
            <a:ext cx="731520" cy="731520"/>
          </a:xfrm>
          <a:prstGeom prst="ellipse">
            <a:avLst/>
          </a:prstGeom>
          <a:solidFill>
            <a:srgbClr val="FFFFFF"/>
          </a:solidFill>
          <a:ln w="25400">
            <a:solidFill>
              <a:srgbClr val="3B6FD8"/>
            </a:solidFill>
          </a:ln>
        </p:spPr>
        <p:txBody>
          <a:bodyPr wrap="square" lIns="0" tIns="0" rIns="0" bIns="0" rtlCol="0" anchor="ctr"/>
          <a:lstStyle/>
          <a:p>
            <a:pPr algn="ctr">
              <a:lnSpc>
                <a:spcPct val="100000"/>
              </a:lnSpc>
              <a:buNone/>
            </a:pPr>
            <a:r>
              <a:rPr sz="800" b="1" i="0">
                <a:solidFill>
                  <a:srgbClr val="1F2A44"/>
                </a:solidFill>
                <a:latin typeface="Calibri"/>
              </a:rPr>
              <a:t>Backtesting</a:t>
            </a:r>
          </a:p>
        </p:txBody>
      </p:sp>
      <p:sp>
        <p:nvSpPr>
          <p:cNvPr id="18" name="Rectangle 17"/>
          <p:cNvSpPr/>
          <p:nvPr/>
        </p:nvSpPr>
        <p:spPr>
          <a:xfrm>
            <a:off x="10712196" y="3136392"/>
            <a:ext cx="1207008" cy="457200"/>
          </a:xfrm>
          <a:prstGeom prst="rect">
            <a:avLst/>
          </a:prstGeom>
          <a:noFill/>
          <a:ln>
            <a:noFill/>
          </a:ln>
        </p:spPr>
        <p:txBody>
          <a:bodyPr wrap="square" lIns="0" tIns="0" rIns="0" bIns="0" rtlCol="0" anchor="t"/>
          <a:lstStyle/>
          <a:p>
            <a:pPr algn="ctr">
              <a:lnSpc>
                <a:spcPct val="100000"/>
              </a:lnSpc>
              <a:buNone/>
            </a:pPr>
            <a:r>
              <a:rPr sz="850" b="0" i="0">
                <a:solidFill>
                  <a:srgbClr val="3A3A3A"/>
                </a:solidFill>
                <a:latin typeface="Calibri"/>
              </a:rPr>
              <a:t>Replays 90 days of transactions, old vs new</a:t>
            </a:r>
          </a:p>
        </p:txBody>
      </p:sp>
      <p:sp>
        <p:nvSpPr>
          <p:cNvPr id="19" name="Oval 18"/>
          <p:cNvSpPr/>
          <p:nvPr/>
        </p:nvSpPr>
        <p:spPr>
          <a:xfrm>
            <a:off x="9624059" y="2377440"/>
            <a:ext cx="731520" cy="731520"/>
          </a:xfrm>
          <a:prstGeom prst="ellipse">
            <a:avLst/>
          </a:prstGeom>
          <a:solidFill>
            <a:srgbClr val="FFFFFF"/>
          </a:solidFill>
          <a:ln w="25400">
            <a:solidFill>
              <a:srgbClr val="3B6FD8"/>
            </a:solidFill>
          </a:ln>
        </p:spPr>
        <p:txBody>
          <a:bodyPr wrap="square" lIns="0" tIns="0" rIns="0" bIns="0" rtlCol="0" anchor="ctr"/>
          <a:lstStyle/>
          <a:p>
            <a:pPr algn="ctr">
              <a:lnSpc>
                <a:spcPct val="100000"/>
              </a:lnSpc>
              <a:buNone/>
            </a:pPr>
            <a:r>
              <a:rPr sz="800" b="1" i="0">
                <a:solidFill>
                  <a:srgbClr val="1F2A44"/>
                </a:solidFill>
                <a:latin typeface="Calibri"/>
              </a:rPr>
              <a:t>Impact</a:t>
            </a:r>
          </a:p>
          <a:p>
            <a:pPr algn="ctr">
              <a:lnSpc>
                <a:spcPct val="100000"/>
              </a:lnSpc>
              <a:buNone/>
            </a:pPr>
            <a:r>
              <a:rPr sz="800" b="1" i="0">
                <a:solidFill>
                  <a:srgbClr val="1F2A44"/>
                </a:solidFill>
                <a:latin typeface="Calibri"/>
              </a:rPr>
              <a:t>Analysis</a:t>
            </a:r>
          </a:p>
        </p:txBody>
      </p:sp>
      <p:sp>
        <p:nvSpPr>
          <p:cNvPr id="20" name="Rectangle 19"/>
          <p:cNvSpPr/>
          <p:nvPr/>
        </p:nvSpPr>
        <p:spPr>
          <a:xfrm>
            <a:off x="9386315" y="3136392"/>
            <a:ext cx="1207008" cy="457200"/>
          </a:xfrm>
          <a:prstGeom prst="rect">
            <a:avLst/>
          </a:prstGeom>
          <a:noFill/>
          <a:ln>
            <a:noFill/>
          </a:ln>
        </p:spPr>
        <p:txBody>
          <a:bodyPr wrap="square" lIns="0" tIns="0" rIns="0" bIns="0" rtlCol="0" anchor="t"/>
          <a:lstStyle/>
          <a:p>
            <a:pPr algn="ctr">
              <a:lnSpc>
                <a:spcPct val="100000"/>
              </a:lnSpc>
              <a:buNone/>
            </a:pPr>
            <a:r>
              <a:rPr sz="850" b="0" i="0">
                <a:solidFill>
                  <a:srgbClr val="3A3A3A"/>
                </a:solidFill>
                <a:latin typeface="Calibri"/>
              </a:rPr>
              <a:t>Alert delta, segments and analyst hours</a:t>
            </a:r>
          </a:p>
        </p:txBody>
      </p:sp>
      <p:sp>
        <p:nvSpPr>
          <p:cNvPr id="21" name="Oval 20"/>
          <p:cNvSpPr/>
          <p:nvPr/>
        </p:nvSpPr>
        <p:spPr>
          <a:xfrm>
            <a:off x="8298179" y="2377440"/>
            <a:ext cx="731520" cy="731520"/>
          </a:xfrm>
          <a:prstGeom prst="ellipse">
            <a:avLst/>
          </a:prstGeom>
          <a:solidFill>
            <a:srgbClr val="FFFFFF"/>
          </a:solidFill>
          <a:ln w="25400">
            <a:solidFill>
              <a:srgbClr val="3B6FD8"/>
            </a:solidFill>
          </a:ln>
        </p:spPr>
        <p:txBody>
          <a:bodyPr wrap="square" lIns="0" tIns="0" rIns="0" bIns="0" rtlCol="0" anchor="ctr"/>
          <a:lstStyle/>
          <a:p>
            <a:pPr algn="ctr">
              <a:lnSpc>
                <a:spcPct val="100000"/>
              </a:lnSpc>
              <a:buNone/>
            </a:pPr>
            <a:r>
              <a:rPr sz="800" b="1" i="0">
                <a:solidFill>
                  <a:srgbClr val="1F2A44"/>
                </a:solidFill>
                <a:latin typeface="Calibri"/>
              </a:rPr>
              <a:t>Validation</a:t>
            </a:r>
          </a:p>
        </p:txBody>
      </p:sp>
      <p:sp>
        <p:nvSpPr>
          <p:cNvPr id="22" name="Rectangle 21"/>
          <p:cNvSpPr/>
          <p:nvPr/>
        </p:nvSpPr>
        <p:spPr>
          <a:xfrm>
            <a:off x="8060436" y="3136392"/>
            <a:ext cx="1207008" cy="457200"/>
          </a:xfrm>
          <a:prstGeom prst="rect">
            <a:avLst/>
          </a:prstGeom>
          <a:noFill/>
          <a:ln>
            <a:noFill/>
          </a:ln>
        </p:spPr>
        <p:txBody>
          <a:bodyPr wrap="square" lIns="0" tIns="0" rIns="0" bIns="0" rtlCol="0" anchor="t"/>
          <a:lstStyle/>
          <a:p>
            <a:pPr algn="ctr">
              <a:lnSpc>
                <a:spcPct val="100000"/>
              </a:lnSpc>
              <a:buNone/>
            </a:pPr>
            <a:r>
              <a:rPr sz="850" b="0" i="0">
                <a:solidFill>
                  <a:srgbClr val="3A3A3A"/>
                </a:solidFill>
                <a:latin typeface="Calibri"/>
              </a:rPr>
              <a:t>Spans, numbers, boundary tests, conflicts</a:t>
            </a:r>
          </a:p>
        </p:txBody>
      </p:sp>
      <p:sp>
        <p:nvSpPr>
          <p:cNvPr id="23" name="Oval 22"/>
          <p:cNvSpPr/>
          <p:nvPr/>
        </p:nvSpPr>
        <p:spPr>
          <a:xfrm>
            <a:off x="6972299" y="2377440"/>
            <a:ext cx="731520" cy="731520"/>
          </a:xfrm>
          <a:prstGeom prst="ellipse">
            <a:avLst/>
          </a:prstGeom>
          <a:solidFill>
            <a:srgbClr val="FFF2CC"/>
          </a:solidFill>
          <a:ln w="25400">
            <a:solidFill>
              <a:srgbClr val="BF9000"/>
            </a:solidFill>
          </a:ln>
        </p:spPr>
        <p:txBody>
          <a:bodyPr wrap="square" lIns="0" tIns="0" rIns="0" bIns="0" rtlCol="0" anchor="ctr"/>
          <a:lstStyle/>
          <a:p>
            <a:pPr algn="ctr">
              <a:lnSpc>
                <a:spcPct val="100000"/>
              </a:lnSpc>
              <a:buNone/>
            </a:pPr>
            <a:r>
              <a:rPr sz="800" b="1" i="0">
                <a:solidFill>
                  <a:srgbClr val="1F2A44"/>
                </a:solidFill>
                <a:latin typeface="Calibri"/>
              </a:rPr>
              <a:t>Human</a:t>
            </a:r>
          </a:p>
          <a:p>
            <a:pPr algn="ctr">
              <a:lnSpc>
                <a:spcPct val="100000"/>
              </a:lnSpc>
              <a:buNone/>
            </a:pPr>
            <a:r>
              <a:rPr sz="800" b="1" i="0">
                <a:solidFill>
                  <a:srgbClr val="1F2A44"/>
                </a:solidFill>
                <a:latin typeface="Calibri"/>
              </a:rPr>
              <a:t>Approval</a:t>
            </a:r>
          </a:p>
        </p:txBody>
      </p:sp>
      <p:sp>
        <p:nvSpPr>
          <p:cNvPr id="24" name="Rectangle 23"/>
          <p:cNvSpPr/>
          <p:nvPr/>
        </p:nvSpPr>
        <p:spPr>
          <a:xfrm>
            <a:off x="6734555" y="3136392"/>
            <a:ext cx="1207008" cy="457200"/>
          </a:xfrm>
          <a:prstGeom prst="rect">
            <a:avLst/>
          </a:prstGeom>
          <a:noFill/>
          <a:ln>
            <a:noFill/>
          </a:ln>
        </p:spPr>
        <p:txBody>
          <a:bodyPr wrap="square" lIns="0" tIns="0" rIns="0" bIns="0" rtlCol="0" anchor="t"/>
          <a:lstStyle/>
          <a:p>
            <a:pPr algn="ctr">
              <a:lnSpc>
                <a:spcPct val="100000"/>
              </a:lnSpc>
              <a:buNone/>
            </a:pPr>
            <a:r>
              <a:rPr sz="850" b="0" i="0">
                <a:solidFill>
                  <a:srgbClr val="3A3A3A"/>
                </a:solidFill>
                <a:latin typeface="Calibri"/>
              </a:rPr>
              <a:t>Two person maker checker sign off</a:t>
            </a:r>
          </a:p>
        </p:txBody>
      </p:sp>
      <p:sp>
        <p:nvSpPr>
          <p:cNvPr id="25" name="Oval 24"/>
          <p:cNvSpPr/>
          <p:nvPr/>
        </p:nvSpPr>
        <p:spPr>
          <a:xfrm>
            <a:off x="5646419" y="2377440"/>
            <a:ext cx="731520" cy="731520"/>
          </a:xfrm>
          <a:prstGeom prst="ellipse">
            <a:avLst/>
          </a:prstGeom>
          <a:solidFill>
            <a:srgbClr val="E2F0D9"/>
          </a:solidFill>
          <a:ln w="25400">
            <a:solidFill>
              <a:srgbClr val="548235"/>
            </a:solidFill>
          </a:ln>
        </p:spPr>
        <p:txBody>
          <a:bodyPr wrap="square" lIns="0" tIns="0" rIns="0" bIns="0" rtlCol="0" anchor="ctr"/>
          <a:lstStyle/>
          <a:p>
            <a:pPr algn="ctr">
              <a:lnSpc>
                <a:spcPct val="100000"/>
              </a:lnSpc>
              <a:buNone/>
            </a:pPr>
            <a:r>
              <a:rPr sz="800" b="1" i="0">
                <a:solidFill>
                  <a:srgbClr val="1F2A44"/>
                </a:solidFill>
                <a:latin typeface="Calibri"/>
              </a:rPr>
              <a:t>Shadow &amp;</a:t>
            </a:r>
          </a:p>
          <a:p>
            <a:pPr algn="ctr">
              <a:lnSpc>
                <a:spcPct val="100000"/>
              </a:lnSpc>
              <a:buNone/>
            </a:pPr>
            <a:r>
              <a:rPr sz="800" b="1" i="0">
                <a:solidFill>
                  <a:srgbClr val="1F2A44"/>
                </a:solidFill>
                <a:latin typeface="Calibri"/>
              </a:rPr>
              <a:t>Rollout</a:t>
            </a:r>
          </a:p>
        </p:txBody>
      </p:sp>
      <p:sp>
        <p:nvSpPr>
          <p:cNvPr id="26" name="Rectangle 25"/>
          <p:cNvSpPr/>
          <p:nvPr/>
        </p:nvSpPr>
        <p:spPr>
          <a:xfrm>
            <a:off x="5408675" y="3136392"/>
            <a:ext cx="1207008" cy="457200"/>
          </a:xfrm>
          <a:prstGeom prst="rect">
            <a:avLst/>
          </a:prstGeom>
          <a:noFill/>
          <a:ln>
            <a:noFill/>
          </a:ln>
        </p:spPr>
        <p:txBody>
          <a:bodyPr wrap="square" lIns="0" tIns="0" rIns="0" bIns="0" rtlCol="0" anchor="t"/>
          <a:lstStyle/>
          <a:p>
            <a:pPr algn="ctr">
              <a:lnSpc>
                <a:spcPct val="100000"/>
              </a:lnSpc>
              <a:buNone/>
            </a:pPr>
            <a:r>
              <a:rPr sz="850" b="0" i="0">
                <a:solidFill>
                  <a:srgbClr val="3A3A3A"/>
                </a:solidFill>
                <a:latin typeface="Calibri"/>
              </a:rPr>
              <a:t>Shadow, canary, live with auto rollback</a:t>
            </a:r>
          </a:p>
        </p:txBody>
      </p:sp>
      <p:cxnSp>
        <p:nvCxnSpPr>
          <p:cNvPr id="27" name="Connector 26"/>
          <p:cNvCxnSpPr/>
          <p:nvPr/>
        </p:nvCxnSpPr>
        <p:spPr>
          <a:xfrm>
            <a:off x="6396227" y="1389888"/>
            <a:ext cx="557784" cy="0"/>
          </a:xfrm>
          <a:prstGeom prst="line">
            <a:avLst/>
          </a:prstGeom>
          <a:ln w="22225">
            <a:solidFill>
              <a:srgbClr val="3B6FD8"/>
            </a:solidFill>
            <a:tailEnd type="triangle" w="med" len="med"/>
          </a:ln>
        </p:spPr>
      </p:cxnSp>
      <p:cxnSp>
        <p:nvCxnSpPr>
          <p:cNvPr id="28" name="Connector 27"/>
          <p:cNvCxnSpPr/>
          <p:nvPr/>
        </p:nvCxnSpPr>
        <p:spPr>
          <a:xfrm flipH="1">
            <a:off x="10373867" y="2743200"/>
            <a:ext cx="557785" cy="0"/>
          </a:xfrm>
          <a:prstGeom prst="line">
            <a:avLst/>
          </a:prstGeom>
          <a:ln w="22225">
            <a:solidFill>
              <a:srgbClr val="3B6FD8"/>
            </a:solidFill>
            <a:tailEnd type="triangle" w="med" len="med"/>
          </a:ln>
        </p:spPr>
      </p:cxnSp>
      <p:cxnSp>
        <p:nvCxnSpPr>
          <p:cNvPr id="29" name="Connector 28"/>
          <p:cNvCxnSpPr/>
          <p:nvPr/>
        </p:nvCxnSpPr>
        <p:spPr>
          <a:xfrm>
            <a:off x="7722107" y="1389888"/>
            <a:ext cx="557785" cy="0"/>
          </a:xfrm>
          <a:prstGeom prst="line">
            <a:avLst/>
          </a:prstGeom>
          <a:ln w="22225">
            <a:solidFill>
              <a:srgbClr val="3B6FD8"/>
            </a:solidFill>
            <a:tailEnd type="triangle" w="med" len="med"/>
          </a:ln>
        </p:spPr>
      </p:cxnSp>
      <p:cxnSp>
        <p:nvCxnSpPr>
          <p:cNvPr id="30" name="Connector 29"/>
          <p:cNvCxnSpPr/>
          <p:nvPr/>
        </p:nvCxnSpPr>
        <p:spPr>
          <a:xfrm flipH="1">
            <a:off x="9047988" y="2743200"/>
            <a:ext cx="557784" cy="0"/>
          </a:xfrm>
          <a:prstGeom prst="line">
            <a:avLst/>
          </a:prstGeom>
          <a:ln w="22225">
            <a:solidFill>
              <a:srgbClr val="3B6FD8"/>
            </a:solidFill>
            <a:tailEnd type="triangle" w="med" len="med"/>
          </a:ln>
        </p:spPr>
      </p:cxnSp>
      <p:cxnSp>
        <p:nvCxnSpPr>
          <p:cNvPr id="31" name="Connector 30"/>
          <p:cNvCxnSpPr/>
          <p:nvPr/>
        </p:nvCxnSpPr>
        <p:spPr>
          <a:xfrm>
            <a:off x="9047988" y="1389888"/>
            <a:ext cx="557784" cy="0"/>
          </a:xfrm>
          <a:prstGeom prst="line">
            <a:avLst/>
          </a:prstGeom>
          <a:ln w="22225">
            <a:solidFill>
              <a:srgbClr val="3B6FD8"/>
            </a:solidFill>
            <a:tailEnd type="triangle" w="med" len="med"/>
          </a:ln>
        </p:spPr>
      </p:cxnSp>
      <p:cxnSp>
        <p:nvCxnSpPr>
          <p:cNvPr id="32" name="Connector 31"/>
          <p:cNvCxnSpPr/>
          <p:nvPr/>
        </p:nvCxnSpPr>
        <p:spPr>
          <a:xfrm flipH="1">
            <a:off x="7722107" y="2743200"/>
            <a:ext cx="557785" cy="0"/>
          </a:xfrm>
          <a:prstGeom prst="line">
            <a:avLst/>
          </a:prstGeom>
          <a:ln w="22225">
            <a:solidFill>
              <a:srgbClr val="3B6FD8"/>
            </a:solidFill>
            <a:tailEnd type="triangle" w="med" len="med"/>
          </a:ln>
        </p:spPr>
      </p:cxnSp>
      <p:cxnSp>
        <p:nvCxnSpPr>
          <p:cNvPr id="33" name="Connector 32"/>
          <p:cNvCxnSpPr/>
          <p:nvPr/>
        </p:nvCxnSpPr>
        <p:spPr>
          <a:xfrm>
            <a:off x="10373867" y="1389888"/>
            <a:ext cx="557785" cy="0"/>
          </a:xfrm>
          <a:prstGeom prst="line">
            <a:avLst/>
          </a:prstGeom>
          <a:ln w="22225">
            <a:solidFill>
              <a:srgbClr val="3B6FD8"/>
            </a:solidFill>
            <a:tailEnd type="triangle" w="med" len="med"/>
          </a:ln>
        </p:spPr>
      </p:cxnSp>
      <p:cxnSp>
        <p:nvCxnSpPr>
          <p:cNvPr id="34" name="Connector 33"/>
          <p:cNvCxnSpPr/>
          <p:nvPr/>
        </p:nvCxnSpPr>
        <p:spPr>
          <a:xfrm flipH="1">
            <a:off x="6396227" y="2743200"/>
            <a:ext cx="557784" cy="0"/>
          </a:xfrm>
          <a:prstGeom prst="line">
            <a:avLst/>
          </a:prstGeom>
          <a:ln w="22225">
            <a:solidFill>
              <a:srgbClr val="3B6FD8"/>
            </a:solidFill>
            <a:tailEnd type="triangle" w="med" len="med"/>
          </a:ln>
        </p:spPr>
      </p:cxnSp>
      <p:cxnSp>
        <p:nvCxnSpPr>
          <p:cNvPr id="35" name="Connector 34"/>
          <p:cNvCxnSpPr/>
          <p:nvPr/>
        </p:nvCxnSpPr>
        <p:spPr>
          <a:xfrm>
            <a:off x="11699748" y="1389888"/>
            <a:ext cx="242316" cy="0"/>
          </a:xfrm>
          <a:prstGeom prst="line">
            <a:avLst/>
          </a:prstGeom>
          <a:ln w="22225">
            <a:solidFill>
              <a:srgbClr val="3B6FD8"/>
            </a:solidFill>
          </a:ln>
        </p:spPr>
      </p:cxnSp>
      <p:cxnSp>
        <p:nvCxnSpPr>
          <p:cNvPr id="36" name="Connector 35"/>
          <p:cNvCxnSpPr/>
          <p:nvPr/>
        </p:nvCxnSpPr>
        <p:spPr>
          <a:xfrm>
            <a:off x="11942064" y="1389888"/>
            <a:ext cx="0" cy="1353312"/>
          </a:xfrm>
          <a:prstGeom prst="line">
            <a:avLst/>
          </a:prstGeom>
          <a:ln w="22225">
            <a:solidFill>
              <a:srgbClr val="3B6FD8"/>
            </a:solidFill>
          </a:ln>
        </p:spPr>
      </p:cxnSp>
      <p:cxnSp>
        <p:nvCxnSpPr>
          <p:cNvPr id="37" name="Connector 36"/>
          <p:cNvCxnSpPr/>
          <p:nvPr/>
        </p:nvCxnSpPr>
        <p:spPr>
          <a:xfrm flipH="1">
            <a:off x="11699748" y="2743200"/>
            <a:ext cx="242316" cy="0"/>
          </a:xfrm>
          <a:prstGeom prst="line">
            <a:avLst/>
          </a:prstGeom>
          <a:ln w="22225">
            <a:solidFill>
              <a:srgbClr val="3B6FD8"/>
            </a:solidFill>
            <a:tailEnd type="triangle" w="med" len="med"/>
          </a:ln>
        </p:spPr>
      </p:cxnSp>
      <p:sp>
        <p:nvSpPr>
          <p:cNvPr id="38" name="Rectangle 37"/>
          <p:cNvSpPr/>
          <p:nvPr/>
        </p:nvSpPr>
        <p:spPr>
          <a:xfrm>
            <a:off x="566928" y="3703320"/>
            <a:ext cx="3474720" cy="329184"/>
          </a:xfrm>
          <a:prstGeom prst="rect">
            <a:avLst/>
          </a:prstGeom>
          <a:noFill/>
          <a:ln>
            <a:noFill/>
          </a:ln>
        </p:spPr>
        <p:txBody>
          <a:bodyPr wrap="square" lIns="0" tIns="0" rIns="0" bIns="0" rtlCol="0" anchor="ctr"/>
          <a:lstStyle/>
          <a:p>
            <a:pPr algn="l">
              <a:lnSpc>
                <a:spcPct val="100000"/>
              </a:lnSpc>
              <a:buNone/>
            </a:pPr>
            <a:r>
              <a:rPr sz="1800" b="1" i="0">
                <a:solidFill>
                  <a:srgbClr val="3A3480"/>
                </a:solidFill>
                <a:latin typeface="Times New Roman"/>
              </a:rPr>
              <a:t>Unique Selling Proposition</a:t>
            </a:r>
          </a:p>
        </p:txBody>
      </p:sp>
      <p:sp>
        <p:nvSpPr>
          <p:cNvPr id="39" name="Rectangle 38"/>
          <p:cNvSpPr/>
          <p:nvPr/>
        </p:nvSpPr>
        <p:spPr>
          <a:xfrm>
            <a:off x="566928" y="4114800"/>
            <a:ext cx="3429000" cy="2606040"/>
          </a:xfrm>
          <a:prstGeom prst="rect">
            <a:avLst/>
          </a:prstGeom>
          <a:noFill/>
          <a:ln>
            <a:noFill/>
          </a:ln>
        </p:spPr>
        <p:txBody>
          <a:bodyPr wrap="square" lIns="0" tIns="0" rIns="0" bIns="0" rtlCol="0" anchor="t"/>
          <a:lstStyle/>
          <a:p>
            <a:pPr marL="228600" indent="-228600" algn="l">
              <a:lnSpc>
                <a:spcPct val="100000"/>
              </a:lnSpc>
              <a:spcAft>
                <a:spcPts val="400"/>
              </a:spcAft>
              <a:buClr>
                <a:srgbClr val="1A1A1A"/>
              </a:buClr>
              <a:buFont typeface="Times New Roman"/>
              <a:buAutoNum type="arabicPeriod"/>
            </a:pPr>
            <a:r>
              <a:rPr sz="1200" b="1" i="0">
                <a:solidFill>
                  <a:srgbClr val="1A1A1A"/>
                </a:solidFill>
                <a:latin typeface="Times New Roman"/>
              </a:rPr>
              <a:t>Circular to Live Rule: </a:t>
            </a:r>
            <a:r>
              <a:rPr sz="1200" b="0" i="0">
                <a:solidFill>
                  <a:srgbClr val="1A1A1A"/>
                </a:solidFill>
                <a:latin typeface="Times New Roman"/>
              </a:rPr>
              <a:t>covers the full path from PDF to a deployed rule, not just an obligation register.</a:t>
            </a:r>
          </a:p>
          <a:p>
            <a:pPr marL="228600" indent="-228600" algn="l">
              <a:lnSpc>
                <a:spcPct val="100000"/>
              </a:lnSpc>
              <a:spcAft>
                <a:spcPts val="400"/>
              </a:spcAft>
              <a:buClr>
                <a:srgbClr val="1A1A1A"/>
              </a:buClr>
              <a:buFont typeface="Times New Roman"/>
              <a:buAutoNum type="arabicPeriod"/>
            </a:pPr>
            <a:r>
              <a:rPr sz="1200" b="1" i="0">
                <a:solidFill>
                  <a:srgbClr val="1A1A1A"/>
                </a:solidFill>
                <a:latin typeface="Times New Roman"/>
              </a:rPr>
              <a:t>Tests From the Regulation: </a:t>
            </a:r>
            <a:r>
              <a:rPr sz="1200" b="0" i="0">
                <a:solidFill>
                  <a:srgbClr val="1A1A1A"/>
                </a:solidFill>
                <a:latin typeface="Times New Roman"/>
              </a:rPr>
              <a:t>auto generated boundary tests catch threshold, comparator, unit and date errors.</a:t>
            </a:r>
          </a:p>
          <a:p>
            <a:pPr marL="228600" indent="-228600" algn="l">
              <a:lnSpc>
                <a:spcPct val="100000"/>
              </a:lnSpc>
              <a:spcAft>
                <a:spcPts val="400"/>
              </a:spcAft>
              <a:buClr>
                <a:srgbClr val="1A1A1A"/>
              </a:buClr>
              <a:buFont typeface="Times New Roman"/>
              <a:buAutoNum type="arabicPeriod"/>
            </a:pPr>
            <a:r>
              <a:rPr sz="1200" b="1" i="0">
                <a:solidFill>
                  <a:srgbClr val="1A1A1A"/>
                </a:solidFill>
                <a:latin typeface="Times New Roman"/>
              </a:rPr>
              <a:t>Human in Control: </a:t>
            </a:r>
            <a:r>
              <a:rPr sz="1200" b="0" i="0">
                <a:solidFill>
                  <a:srgbClr val="1A1A1A"/>
                </a:solidFill>
                <a:latin typeface="Times New Roman"/>
              </a:rPr>
              <a:t>two person approval; agents can never deploy on their own.</a:t>
            </a:r>
          </a:p>
          <a:p>
            <a:pPr marL="228600" indent="-228600" algn="l">
              <a:lnSpc>
                <a:spcPct val="100000"/>
              </a:lnSpc>
              <a:spcAft>
                <a:spcPts val="400"/>
              </a:spcAft>
              <a:buClr>
                <a:srgbClr val="1A1A1A"/>
              </a:buClr>
              <a:buFont typeface="Times New Roman"/>
              <a:buAutoNum type="arabicPeriod"/>
            </a:pPr>
            <a:r>
              <a:rPr sz="1200" b="1" i="0">
                <a:solidFill>
                  <a:srgbClr val="1A1A1A"/>
                </a:solidFill>
                <a:latin typeface="Times New Roman"/>
              </a:rPr>
              <a:t>Golden Thread Audit: </a:t>
            </a:r>
            <a:r>
              <a:rPr sz="1200" b="0" i="0">
                <a:solidFill>
                  <a:srgbClr val="1A1A1A"/>
                </a:solidFill>
                <a:latin typeface="Times New Roman"/>
              </a:rPr>
              <a:t>any alert traces to its clause, rule version, backtest and approvers.</a:t>
            </a:r>
          </a:p>
          <a:p>
            <a:pPr marL="228600" indent="-228600" algn="l">
              <a:lnSpc>
                <a:spcPct val="100000"/>
              </a:lnSpc>
              <a:spcAft>
                <a:spcPts val="400"/>
              </a:spcAft>
              <a:buClr>
                <a:srgbClr val="1A1A1A"/>
              </a:buClr>
              <a:buFont typeface="Times New Roman"/>
              <a:buAutoNum type="arabicPeriod"/>
            </a:pPr>
            <a:r>
              <a:rPr sz="1200" b="1" i="0">
                <a:solidFill>
                  <a:srgbClr val="1A1A1A"/>
                </a:solidFill>
                <a:latin typeface="Times New Roman"/>
              </a:rPr>
              <a:t>Plug and Play Regulators: </a:t>
            </a:r>
            <a:r>
              <a:rPr sz="1200" b="0" i="0">
                <a:solidFill>
                  <a:srgbClr val="1A1A1A"/>
                </a:solidFill>
                <a:latin typeface="Times New Roman"/>
              </a:rPr>
              <a:t>new regulators join as Agent Cards and MCP servers, with no rewrite.</a:t>
            </a:r>
          </a:p>
        </p:txBody>
      </p:sp>
      <p:sp>
        <p:nvSpPr>
          <p:cNvPr id="40" name="Rectangle 39"/>
          <p:cNvSpPr/>
          <p:nvPr/>
        </p:nvSpPr>
        <p:spPr>
          <a:xfrm>
            <a:off x="4160520" y="3703320"/>
            <a:ext cx="2743200" cy="329184"/>
          </a:xfrm>
          <a:prstGeom prst="rect">
            <a:avLst/>
          </a:prstGeom>
          <a:noFill/>
          <a:ln>
            <a:noFill/>
          </a:ln>
        </p:spPr>
        <p:txBody>
          <a:bodyPr wrap="square" lIns="0" tIns="0" rIns="0" bIns="0" rtlCol="0" anchor="ctr"/>
          <a:lstStyle/>
          <a:p>
            <a:pPr algn="l">
              <a:lnSpc>
                <a:spcPct val="100000"/>
              </a:lnSpc>
              <a:buNone/>
            </a:pPr>
            <a:r>
              <a:rPr sz="1800" b="1" i="0">
                <a:solidFill>
                  <a:srgbClr val="3A3480"/>
                </a:solidFill>
                <a:latin typeface="Times New Roman"/>
              </a:rPr>
              <a:t>Working</a:t>
            </a:r>
          </a:p>
        </p:txBody>
      </p:sp>
      <p:sp>
        <p:nvSpPr>
          <p:cNvPr id="41" name="Rounded Rectangle 40"/>
          <p:cNvSpPr/>
          <p:nvPr/>
        </p:nvSpPr>
        <p:spPr>
          <a:xfrm>
            <a:off x="4114800" y="4069080"/>
            <a:ext cx="4069080" cy="2606040"/>
          </a:xfrm>
          <a:prstGeom prst="roundRect">
            <a:avLst>
              <a:gd name="adj" fmla="val 4000"/>
            </a:avLst>
          </a:prstGeom>
          <a:solidFill>
            <a:srgbClr val="F2F6FC"/>
          </a:solidFill>
          <a:ln>
            <a:noFill/>
          </a:ln>
        </p:spPr>
        <p:txBody>
          <a:bodyPr wrap="square" lIns="0" tIns="0" rIns="0" bIns="0" rtlCol="0" anchor="t"/>
          <a:lstStyle/>
          <a:p>
            <a:endParaRPr/>
          </a:p>
        </p:txBody>
      </p:sp>
      <p:pic>
        <p:nvPicPr>
          <p:cNvPr id="42" name="Picture 41" descr="ic_file.png"/>
          <p:cNvPicPr>
            <a:picLocks noChangeAspect="1"/>
          </p:cNvPicPr>
          <p:nvPr/>
        </p:nvPicPr>
        <p:blipFill>
          <a:blip r:embed="rId4"/>
          <a:stretch>
            <a:fillRect/>
          </a:stretch>
        </p:blipFill>
        <p:spPr>
          <a:xfrm>
            <a:off x="4407408" y="4133087"/>
            <a:ext cx="329184" cy="329184"/>
          </a:xfrm>
          <a:prstGeom prst="rect">
            <a:avLst/>
          </a:prstGeom>
        </p:spPr>
      </p:pic>
      <p:sp>
        <p:nvSpPr>
          <p:cNvPr id="43" name="Rectangle 42"/>
          <p:cNvSpPr/>
          <p:nvPr/>
        </p:nvSpPr>
        <p:spPr>
          <a:xfrm>
            <a:off x="4160520" y="4480559"/>
            <a:ext cx="822960" cy="182880"/>
          </a:xfrm>
          <a:prstGeom prst="rect">
            <a:avLst/>
          </a:prstGeom>
          <a:noFill/>
          <a:ln>
            <a:noFill/>
          </a:ln>
        </p:spPr>
        <p:txBody>
          <a:bodyPr wrap="square" lIns="0" tIns="0" rIns="0" bIns="0" rtlCol="0" anchor="t"/>
          <a:lstStyle/>
          <a:p>
            <a:pPr algn="ctr">
              <a:lnSpc>
                <a:spcPct val="100000"/>
              </a:lnSpc>
              <a:buNone/>
            </a:pPr>
            <a:r>
              <a:rPr sz="750" b="0" i="0">
                <a:solidFill>
                  <a:srgbClr val="2F3E56"/>
                </a:solidFill>
                <a:latin typeface="Calibri"/>
              </a:rPr>
              <a:t>RBI Circular</a:t>
            </a:r>
          </a:p>
        </p:txBody>
      </p:sp>
      <p:pic>
        <p:nvPicPr>
          <p:cNvPr id="44" name="Picture 43" descr="ic_bank.png"/>
          <p:cNvPicPr>
            <a:picLocks noChangeAspect="1"/>
          </p:cNvPicPr>
          <p:nvPr/>
        </p:nvPicPr>
        <p:blipFill>
          <a:blip r:embed="rId5"/>
          <a:stretch>
            <a:fillRect/>
          </a:stretch>
        </p:blipFill>
        <p:spPr>
          <a:xfrm>
            <a:off x="5138927" y="4133087"/>
            <a:ext cx="329184" cy="329184"/>
          </a:xfrm>
          <a:prstGeom prst="rect">
            <a:avLst/>
          </a:prstGeom>
        </p:spPr>
      </p:pic>
      <p:sp>
        <p:nvSpPr>
          <p:cNvPr id="45" name="Rectangle 44"/>
          <p:cNvSpPr/>
          <p:nvPr/>
        </p:nvSpPr>
        <p:spPr>
          <a:xfrm>
            <a:off x="4892040" y="4480559"/>
            <a:ext cx="822960" cy="182880"/>
          </a:xfrm>
          <a:prstGeom prst="rect">
            <a:avLst/>
          </a:prstGeom>
          <a:noFill/>
          <a:ln>
            <a:noFill/>
          </a:ln>
        </p:spPr>
        <p:txBody>
          <a:bodyPr wrap="square" lIns="0" tIns="0" rIns="0" bIns="0" rtlCol="0" anchor="t"/>
          <a:lstStyle/>
          <a:p>
            <a:pPr algn="ctr">
              <a:lnSpc>
                <a:spcPct val="100000"/>
              </a:lnSpc>
              <a:buNone/>
            </a:pPr>
            <a:r>
              <a:rPr sz="750" b="0" i="0">
                <a:solidFill>
                  <a:srgbClr val="2F3E56"/>
                </a:solidFill>
                <a:latin typeface="Calibri"/>
              </a:rPr>
              <a:t>Bank Profile</a:t>
            </a:r>
          </a:p>
        </p:txBody>
      </p:sp>
      <p:sp>
        <p:nvSpPr>
          <p:cNvPr id="46" name="Rounded Rectangle 45"/>
          <p:cNvSpPr/>
          <p:nvPr/>
        </p:nvSpPr>
        <p:spPr>
          <a:xfrm>
            <a:off x="5715000" y="4160520"/>
            <a:ext cx="1417320" cy="475488"/>
          </a:xfrm>
          <a:prstGeom prst="roundRect">
            <a:avLst>
              <a:gd name="adj" fmla="val 20000"/>
            </a:avLst>
          </a:prstGeom>
          <a:solidFill>
            <a:srgbClr val="FFFFFF"/>
          </a:solidFill>
          <a:ln w="15875">
            <a:solidFill>
              <a:srgbClr val="3B6FD8"/>
            </a:solidFill>
          </a:ln>
        </p:spPr>
        <p:txBody>
          <a:bodyPr wrap="square" lIns="0" tIns="0" rIns="0" bIns="0" rtlCol="0" anchor="ctr"/>
          <a:lstStyle/>
          <a:p>
            <a:pPr algn="ctr">
              <a:lnSpc>
                <a:spcPct val="100000"/>
              </a:lnSpc>
              <a:buNone/>
            </a:pPr>
            <a:r>
              <a:rPr sz="1200" b="1" i="0">
                <a:solidFill>
                  <a:srgbClr val="1F1A50"/>
                </a:solidFill>
                <a:latin typeface="Calibri"/>
              </a:rPr>
              <a:t>NIYAM</a:t>
            </a:r>
          </a:p>
          <a:p>
            <a:pPr algn="ctr">
              <a:lnSpc>
                <a:spcPct val="100000"/>
              </a:lnSpc>
              <a:buNone/>
            </a:pPr>
            <a:r>
              <a:rPr sz="750" b="0" i="0">
                <a:solidFill>
                  <a:srgbClr val="4D4D4D"/>
                </a:solidFill>
                <a:latin typeface="Calibri"/>
              </a:rPr>
              <a:t>Conductor + A2A mesh</a:t>
            </a:r>
          </a:p>
        </p:txBody>
      </p:sp>
      <p:pic>
        <p:nvPicPr>
          <p:cNvPr id="47" name="Picture 46" descr="ic_book.png"/>
          <p:cNvPicPr>
            <a:picLocks noChangeAspect="1"/>
          </p:cNvPicPr>
          <p:nvPr/>
        </p:nvPicPr>
        <p:blipFill>
          <a:blip r:embed="rId6"/>
          <a:stretch>
            <a:fillRect/>
          </a:stretch>
        </p:blipFill>
        <p:spPr>
          <a:xfrm>
            <a:off x="7562088" y="4133087"/>
            <a:ext cx="329184" cy="329184"/>
          </a:xfrm>
          <a:prstGeom prst="rect">
            <a:avLst/>
          </a:prstGeom>
        </p:spPr>
      </p:pic>
      <p:sp>
        <p:nvSpPr>
          <p:cNvPr id="48" name="Rectangle 47"/>
          <p:cNvSpPr/>
          <p:nvPr/>
        </p:nvSpPr>
        <p:spPr>
          <a:xfrm>
            <a:off x="7315200" y="4480559"/>
            <a:ext cx="822960" cy="182880"/>
          </a:xfrm>
          <a:prstGeom prst="rect">
            <a:avLst/>
          </a:prstGeom>
          <a:noFill/>
          <a:ln>
            <a:noFill/>
          </a:ln>
        </p:spPr>
        <p:txBody>
          <a:bodyPr wrap="square" lIns="0" tIns="0" rIns="0" bIns="0" rtlCol="0" anchor="t"/>
          <a:lstStyle/>
          <a:p>
            <a:pPr algn="ctr">
              <a:lnSpc>
                <a:spcPct val="100000"/>
              </a:lnSpc>
              <a:buNone/>
            </a:pPr>
            <a:r>
              <a:rPr sz="750" b="0" i="0">
                <a:solidFill>
                  <a:srgbClr val="2F3E56"/>
                </a:solidFill>
                <a:latin typeface="Calibri"/>
              </a:rPr>
              <a:t>Policies &amp; Rules</a:t>
            </a:r>
          </a:p>
        </p:txBody>
      </p:sp>
      <p:cxnSp>
        <p:nvCxnSpPr>
          <p:cNvPr id="49" name="Connector 48"/>
          <p:cNvCxnSpPr/>
          <p:nvPr/>
        </p:nvCxnSpPr>
        <p:spPr>
          <a:xfrm>
            <a:off x="5532120" y="4389120"/>
            <a:ext cx="164592" cy="0"/>
          </a:xfrm>
          <a:prstGeom prst="line">
            <a:avLst/>
          </a:prstGeom>
          <a:ln w="15875">
            <a:solidFill>
              <a:srgbClr val="3B6FD8"/>
            </a:solidFill>
            <a:tailEnd type="triangle" w="med" len="med"/>
          </a:ln>
        </p:spPr>
      </p:cxnSp>
      <p:cxnSp>
        <p:nvCxnSpPr>
          <p:cNvPr id="50" name="Connector 49"/>
          <p:cNvCxnSpPr/>
          <p:nvPr/>
        </p:nvCxnSpPr>
        <p:spPr>
          <a:xfrm flipH="1">
            <a:off x="7150608" y="4389120"/>
            <a:ext cx="365760" cy="0"/>
          </a:xfrm>
          <a:prstGeom prst="line">
            <a:avLst/>
          </a:prstGeom>
          <a:ln w="15875">
            <a:solidFill>
              <a:srgbClr val="3B6FD8"/>
            </a:solidFill>
            <a:tailEnd type="triangle" w="med" len="med"/>
          </a:ln>
        </p:spPr>
      </p:cxnSp>
      <p:cxnSp>
        <p:nvCxnSpPr>
          <p:cNvPr id="51" name="Connector 50"/>
          <p:cNvCxnSpPr/>
          <p:nvPr/>
        </p:nvCxnSpPr>
        <p:spPr>
          <a:xfrm>
            <a:off x="6419088" y="4636008"/>
            <a:ext cx="0" cy="118872"/>
          </a:xfrm>
          <a:prstGeom prst="line">
            <a:avLst/>
          </a:prstGeom>
          <a:ln w="15875">
            <a:solidFill>
              <a:srgbClr val="3B6FD8"/>
            </a:solidFill>
          </a:ln>
        </p:spPr>
      </p:cxnSp>
      <p:cxnSp>
        <p:nvCxnSpPr>
          <p:cNvPr id="52" name="Connector 51"/>
          <p:cNvCxnSpPr/>
          <p:nvPr/>
        </p:nvCxnSpPr>
        <p:spPr>
          <a:xfrm>
            <a:off x="4526280" y="4754880"/>
            <a:ext cx="3291840" cy="0"/>
          </a:xfrm>
          <a:prstGeom prst="line">
            <a:avLst/>
          </a:prstGeom>
          <a:ln w="15875">
            <a:solidFill>
              <a:srgbClr val="3B6FD8"/>
            </a:solidFill>
          </a:ln>
        </p:spPr>
      </p:cxnSp>
      <p:cxnSp>
        <p:nvCxnSpPr>
          <p:cNvPr id="53" name="Connector 52"/>
          <p:cNvCxnSpPr/>
          <p:nvPr/>
        </p:nvCxnSpPr>
        <p:spPr>
          <a:xfrm>
            <a:off x="4535424" y="4754880"/>
            <a:ext cx="0" cy="91440"/>
          </a:xfrm>
          <a:prstGeom prst="line">
            <a:avLst/>
          </a:prstGeom>
          <a:ln w="15875">
            <a:solidFill>
              <a:srgbClr val="3B6FD8"/>
            </a:solidFill>
            <a:tailEnd type="triangle" w="med" len="med"/>
          </a:ln>
        </p:spPr>
      </p:cxnSp>
      <p:sp>
        <p:nvSpPr>
          <p:cNvPr id="54" name="Rounded Rectangle 53"/>
          <p:cNvSpPr/>
          <p:nvPr/>
        </p:nvSpPr>
        <p:spPr>
          <a:xfrm>
            <a:off x="4224528" y="4846320"/>
            <a:ext cx="621792" cy="402336"/>
          </a:xfrm>
          <a:prstGeom prst="roundRect">
            <a:avLst>
              <a:gd name="adj" fmla="val 15000"/>
            </a:avLst>
          </a:prstGeom>
          <a:solidFill>
            <a:srgbClr val="FFFFFF"/>
          </a:solidFill>
          <a:ln w="9525">
            <a:solidFill>
              <a:srgbClr val="9DB4D6"/>
            </a:solidFill>
          </a:ln>
        </p:spPr>
        <p:txBody>
          <a:bodyPr wrap="square" lIns="0" tIns="0" rIns="0" bIns="0" rtlCol="0" anchor="ctr"/>
          <a:lstStyle/>
          <a:p>
            <a:pPr algn="ctr">
              <a:lnSpc>
                <a:spcPct val="100000"/>
              </a:lnSpc>
              <a:buNone/>
            </a:pPr>
            <a:r>
              <a:rPr sz="750" b="1" i="0">
                <a:solidFill>
                  <a:srgbClr val="1F2A44"/>
                </a:solidFill>
                <a:latin typeface="Calibri"/>
              </a:rPr>
              <a:t>Reader</a:t>
            </a:r>
          </a:p>
          <a:p>
            <a:pPr algn="ctr">
              <a:lnSpc>
                <a:spcPct val="100000"/>
              </a:lnSpc>
              <a:buNone/>
            </a:pPr>
            <a:r>
              <a:rPr sz="750" b="1" i="0">
                <a:solidFill>
                  <a:srgbClr val="1F2A44"/>
                </a:solidFill>
                <a:latin typeface="Calibri"/>
              </a:rPr>
              <a:t>Intake + Scope</a:t>
            </a:r>
          </a:p>
        </p:txBody>
      </p:sp>
      <p:cxnSp>
        <p:nvCxnSpPr>
          <p:cNvPr id="55" name="Connector 54"/>
          <p:cNvCxnSpPr/>
          <p:nvPr/>
        </p:nvCxnSpPr>
        <p:spPr>
          <a:xfrm>
            <a:off x="5321808" y="4754880"/>
            <a:ext cx="0" cy="91440"/>
          </a:xfrm>
          <a:prstGeom prst="line">
            <a:avLst/>
          </a:prstGeom>
          <a:ln w="15875">
            <a:solidFill>
              <a:srgbClr val="3B6FD8"/>
            </a:solidFill>
            <a:tailEnd type="triangle" w="med" len="med"/>
          </a:ln>
        </p:spPr>
      </p:cxnSp>
      <p:sp>
        <p:nvSpPr>
          <p:cNvPr id="56" name="Rounded Rectangle 55"/>
          <p:cNvSpPr/>
          <p:nvPr/>
        </p:nvSpPr>
        <p:spPr>
          <a:xfrm>
            <a:off x="5010912" y="4846320"/>
            <a:ext cx="621792" cy="402336"/>
          </a:xfrm>
          <a:prstGeom prst="roundRect">
            <a:avLst>
              <a:gd name="adj" fmla="val 15000"/>
            </a:avLst>
          </a:prstGeom>
          <a:solidFill>
            <a:srgbClr val="FFFFFF"/>
          </a:solidFill>
          <a:ln w="9525">
            <a:solidFill>
              <a:srgbClr val="9DB4D6"/>
            </a:solidFill>
          </a:ln>
        </p:spPr>
        <p:txBody>
          <a:bodyPr wrap="square" lIns="0" tIns="0" rIns="0" bIns="0" rtlCol="0" anchor="ctr"/>
          <a:lstStyle/>
          <a:p>
            <a:pPr algn="ctr">
              <a:lnSpc>
                <a:spcPct val="100000"/>
              </a:lnSpc>
              <a:buNone/>
            </a:pPr>
            <a:r>
              <a:rPr sz="750" b="1" i="0">
                <a:solidFill>
                  <a:srgbClr val="1F2A44"/>
                </a:solidFill>
                <a:latin typeface="Calibri"/>
              </a:rPr>
              <a:t>Extractor</a:t>
            </a:r>
          </a:p>
          <a:p>
            <a:pPr algn="ctr">
              <a:lnSpc>
                <a:spcPct val="100000"/>
              </a:lnSpc>
              <a:buNone/>
            </a:pPr>
            <a:r>
              <a:rPr sz="750" b="1" i="0">
                <a:solidFill>
                  <a:srgbClr val="1F2A44"/>
                </a:solidFill>
                <a:latin typeface="Calibri"/>
              </a:rPr>
              <a:t>+ Mapper</a:t>
            </a:r>
          </a:p>
        </p:txBody>
      </p:sp>
      <p:cxnSp>
        <p:nvCxnSpPr>
          <p:cNvPr id="57" name="Connector 56"/>
          <p:cNvCxnSpPr/>
          <p:nvPr/>
        </p:nvCxnSpPr>
        <p:spPr>
          <a:xfrm>
            <a:off x="6108192" y="4754880"/>
            <a:ext cx="0" cy="91440"/>
          </a:xfrm>
          <a:prstGeom prst="line">
            <a:avLst/>
          </a:prstGeom>
          <a:ln w="15875">
            <a:solidFill>
              <a:srgbClr val="3B6FD8"/>
            </a:solidFill>
            <a:tailEnd type="triangle" w="med" len="med"/>
          </a:ln>
        </p:spPr>
      </p:cxnSp>
      <p:sp>
        <p:nvSpPr>
          <p:cNvPr id="58" name="Rounded Rectangle 57"/>
          <p:cNvSpPr/>
          <p:nvPr/>
        </p:nvSpPr>
        <p:spPr>
          <a:xfrm>
            <a:off x="5797296" y="4846320"/>
            <a:ext cx="621792" cy="402336"/>
          </a:xfrm>
          <a:prstGeom prst="roundRect">
            <a:avLst>
              <a:gd name="adj" fmla="val 15000"/>
            </a:avLst>
          </a:prstGeom>
          <a:solidFill>
            <a:srgbClr val="FFFFFF"/>
          </a:solidFill>
          <a:ln w="9525">
            <a:solidFill>
              <a:srgbClr val="9DB4D6"/>
            </a:solidFill>
          </a:ln>
        </p:spPr>
        <p:txBody>
          <a:bodyPr wrap="square" lIns="0" tIns="0" rIns="0" bIns="0" rtlCol="0" anchor="ctr"/>
          <a:lstStyle/>
          <a:p>
            <a:pPr algn="ctr">
              <a:lnSpc>
                <a:spcPct val="100000"/>
              </a:lnSpc>
              <a:buNone/>
            </a:pPr>
            <a:r>
              <a:rPr sz="750" b="1" i="0">
                <a:solidFill>
                  <a:srgbClr val="1F2A44"/>
                </a:solidFill>
                <a:latin typeface="Calibri"/>
              </a:rPr>
              <a:t>Author</a:t>
            </a:r>
          </a:p>
          <a:p>
            <a:pPr algn="ctr">
              <a:lnSpc>
                <a:spcPct val="100000"/>
              </a:lnSpc>
              <a:buNone/>
            </a:pPr>
            <a:r>
              <a:rPr sz="750" b="1" i="0">
                <a:solidFill>
                  <a:srgbClr val="1F2A44"/>
                </a:solidFill>
                <a:latin typeface="Calibri"/>
              </a:rPr>
              <a:t>Rule drafts</a:t>
            </a:r>
          </a:p>
        </p:txBody>
      </p:sp>
      <p:cxnSp>
        <p:nvCxnSpPr>
          <p:cNvPr id="59" name="Connector 58"/>
          <p:cNvCxnSpPr/>
          <p:nvPr/>
        </p:nvCxnSpPr>
        <p:spPr>
          <a:xfrm>
            <a:off x="6894576" y="4754880"/>
            <a:ext cx="0" cy="91440"/>
          </a:xfrm>
          <a:prstGeom prst="line">
            <a:avLst/>
          </a:prstGeom>
          <a:ln w="15875">
            <a:solidFill>
              <a:srgbClr val="3B6FD8"/>
            </a:solidFill>
            <a:tailEnd type="triangle" w="med" len="med"/>
          </a:ln>
        </p:spPr>
      </p:cxnSp>
      <p:sp>
        <p:nvSpPr>
          <p:cNvPr id="60" name="Rounded Rectangle 59"/>
          <p:cNvSpPr/>
          <p:nvPr/>
        </p:nvSpPr>
        <p:spPr>
          <a:xfrm>
            <a:off x="6583680" y="4846320"/>
            <a:ext cx="621792" cy="402336"/>
          </a:xfrm>
          <a:prstGeom prst="roundRect">
            <a:avLst>
              <a:gd name="adj" fmla="val 15000"/>
            </a:avLst>
          </a:prstGeom>
          <a:solidFill>
            <a:srgbClr val="FFFFFF"/>
          </a:solidFill>
          <a:ln w="9525">
            <a:solidFill>
              <a:srgbClr val="9DB4D6"/>
            </a:solidFill>
          </a:ln>
        </p:spPr>
        <p:txBody>
          <a:bodyPr wrap="square" lIns="0" tIns="0" rIns="0" bIns="0" rtlCol="0" anchor="ctr"/>
          <a:lstStyle/>
          <a:p>
            <a:pPr algn="ctr">
              <a:lnSpc>
                <a:spcPct val="100000"/>
              </a:lnSpc>
              <a:buNone/>
            </a:pPr>
            <a:r>
              <a:rPr sz="750" b="1" i="0">
                <a:solidFill>
                  <a:srgbClr val="1F2A44"/>
                </a:solidFill>
                <a:latin typeface="Calibri"/>
              </a:rPr>
              <a:t>Validator</a:t>
            </a:r>
          </a:p>
          <a:p>
            <a:pPr algn="ctr">
              <a:lnSpc>
                <a:spcPct val="100000"/>
              </a:lnSpc>
              <a:buNone/>
            </a:pPr>
            <a:r>
              <a:rPr sz="750" b="1" i="0">
                <a:solidFill>
                  <a:srgbClr val="1F2A44"/>
                </a:solidFill>
                <a:latin typeface="Calibri"/>
              </a:rPr>
              <a:t>Backtest + Impact</a:t>
            </a:r>
          </a:p>
        </p:txBody>
      </p:sp>
      <p:cxnSp>
        <p:nvCxnSpPr>
          <p:cNvPr id="61" name="Connector 60"/>
          <p:cNvCxnSpPr/>
          <p:nvPr/>
        </p:nvCxnSpPr>
        <p:spPr>
          <a:xfrm>
            <a:off x="7680960" y="4754880"/>
            <a:ext cx="0" cy="91440"/>
          </a:xfrm>
          <a:prstGeom prst="line">
            <a:avLst/>
          </a:prstGeom>
          <a:ln w="15875">
            <a:solidFill>
              <a:srgbClr val="3B6FD8"/>
            </a:solidFill>
            <a:tailEnd type="triangle" w="med" len="med"/>
          </a:ln>
        </p:spPr>
      </p:cxnSp>
      <p:sp>
        <p:nvSpPr>
          <p:cNvPr id="62" name="Rounded Rectangle 61"/>
          <p:cNvSpPr/>
          <p:nvPr/>
        </p:nvSpPr>
        <p:spPr>
          <a:xfrm>
            <a:off x="7370064" y="4846320"/>
            <a:ext cx="621792" cy="402336"/>
          </a:xfrm>
          <a:prstGeom prst="roundRect">
            <a:avLst>
              <a:gd name="adj" fmla="val 15000"/>
            </a:avLst>
          </a:prstGeom>
          <a:solidFill>
            <a:srgbClr val="FFFFFF"/>
          </a:solidFill>
          <a:ln w="9525">
            <a:solidFill>
              <a:srgbClr val="9DB4D6"/>
            </a:solidFill>
          </a:ln>
        </p:spPr>
        <p:txBody>
          <a:bodyPr wrap="square" lIns="0" tIns="0" rIns="0" bIns="0" rtlCol="0" anchor="ctr"/>
          <a:lstStyle/>
          <a:p>
            <a:pPr algn="ctr">
              <a:lnSpc>
                <a:spcPct val="100000"/>
              </a:lnSpc>
              <a:buNone/>
            </a:pPr>
            <a:r>
              <a:rPr sz="750" b="1" i="0">
                <a:solidFill>
                  <a:srgbClr val="1F2A44"/>
                </a:solidFill>
                <a:latin typeface="Calibri"/>
              </a:rPr>
              <a:t>Validator: Tests</a:t>
            </a:r>
          </a:p>
        </p:txBody>
      </p:sp>
      <p:sp>
        <p:nvSpPr>
          <p:cNvPr id="63" name="Rounded Rectangle 62"/>
          <p:cNvSpPr/>
          <p:nvPr/>
        </p:nvSpPr>
        <p:spPr>
          <a:xfrm>
            <a:off x="4224528" y="5358384"/>
            <a:ext cx="3858768" cy="274320"/>
          </a:xfrm>
          <a:prstGeom prst="roundRect">
            <a:avLst>
              <a:gd name="adj" fmla="val 30000"/>
            </a:avLst>
          </a:prstGeom>
          <a:solidFill>
            <a:srgbClr val="FFF2CC"/>
          </a:solidFill>
          <a:ln w="9525">
            <a:solidFill>
              <a:srgbClr val="BF9000"/>
            </a:solidFill>
          </a:ln>
        </p:spPr>
        <p:txBody>
          <a:bodyPr wrap="square" lIns="0" tIns="0" rIns="0" bIns="0" rtlCol="0" anchor="ctr"/>
          <a:lstStyle/>
          <a:p>
            <a:pPr algn="ctr">
              <a:lnSpc>
                <a:spcPct val="100000"/>
              </a:lnSpc>
              <a:buNone/>
            </a:pPr>
            <a:r>
              <a:rPr sz="850" b="1" i="0">
                <a:solidFill>
                  <a:srgbClr val="5C4400"/>
                </a:solidFill>
                <a:latin typeface="Calibri"/>
              </a:rPr>
              <a:t>Human Approval: maker checker, signed approval token</a:t>
            </a:r>
          </a:p>
        </p:txBody>
      </p:sp>
      <p:cxnSp>
        <p:nvCxnSpPr>
          <p:cNvPr id="64" name="Connector 63"/>
          <p:cNvCxnSpPr/>
          <p:nvPr/>
        </p:nvCxnSpPr>
        <p:spPr>
          <a:xfrm>
            <a:off x="4535424" y="5248656"/>
            <a:ext cx="0" cy="109728"/>
          </a:xfrm>
          <a:prstGeom prst="line">
            <a:avLst/>
          </a:prstGeom>
          <a:ln w="15875">
            <a:solidFill>
              <a:srgbClr val="3B6FD8"/>
            </a:solidFill>
            <a:tailEnd type="triangle" w="med" len="med"/>
          </a:ln>
        </p:spPr>
      </p:cxnSp>
      <p:cxnSp>
        <p:nvCxnSpPr>
          <p:cNvPr id="65" name="Connector 64"/>
          <p:cNvCxnSpPr/>
          <p:nvPr/>
        </p:nvCxnSpPr>
        <p:spPr>
          <a:xfrm>
            <a:off x="5321808" y="5248656"/>
            <a:ext cx="0" cy="109728"/>
          </a:xfrm>
          <a:prstGeom prst="line">
            <a:avLst/>
          </a:prstGeom>
          <a:ln w="15875">
            <a:solidFill>
              <a:srgbClr val="3B6FD8"/>
            </a:solidFill>
            <a:tailEnd type="triangle" w="med" len="med"/>
          </a:ln>
        </p:spPr>
      </p:cxnSp>
      <p:cxnSp>
        <p:nvCxnSpPr>
          <p:cNvPr id="66" name="Connector 65"/>
          <p:cNvCxnSpPr/>
          <p:nvPr/>
        </p:nvCxnSpPr>
        <p:spPr>
          <a:xfrm>
            <a:off x="6108192" y="5248656"/>
            <a:ext cx="0" cy="109728"/>
          </a:xfrm>
          <a:prstGeom prst="line">
            <a:avLst/>
          </a:prstGeom>
          <a:ln w="15875">
            <a:solidFill>
              <a:srgbClr val="3B6FD8"/>
            </a:solidFill>
            <a:tailEnd type="triangle" w="med" len="med"/>
          </a:ln>
        </p:spPr>
      </p:cxnSp>
      <p:cxnSp>
        <p:nvCxnSpPr>
          <p:cNvPr id="67" name="Connector 66"/>
          <p:cNvCxnSpPr/>
          <p:nvPr/>
        </p:nvCxnSpPr>
        <p:spPr>
          <a:xfrm>
            <a:off x="6894576" y="5248656"/>
            <a:ext cx="0" cy="109728"/>
          </a:xfrm>
          <a:prstGeom prst="line">
            <a:avLst/>
          </a:prstGeom>
          <a:ln w="15875">
            <a:solidFill>
              <a:srgbClr val="3B6FD8"/>
            </a:solidFill>
            <a:tailEnd type="triangle" w="med" len="med"/>
          </a:ln>
        </p:spPr>
      </p:cxnSp>
      <p:cxnSp>
        <p:nvCxnSpPr>
          <p:cNvPr id="68" name="Connector 67"/>
          <p:cNvCxnSpPr/>
          <p:nvPr/>
        </p:nvCxnSpPr>
        <p:spPr>
          <a:xfrm>
            <a:off x="7680960" y="5248656"/>
            <a:ext cx="0" cy="109728"/>
          </a:xfrm>
          <a:prstGeom prst="line">
            <a:avLst/>
          </a:prstGeom>
          <a:ln w="15875">
            <a:solidFill>
              <a:srgbClr val="3B6FD8"/>
            </a:solidFill>
            <a:tailEnd type="triangle" w="med" len="med"/>
          </a:ln>
        </p:spPr>
      </p:cxnSp>
      <p:cxnSp>
        <p:nvCxnSpPr>
          <p:cNvPr id="69" name="Connector 68"/>
          <p:cNvCxnSpPr/>
          <p:nvPr/>
        </p:nvCxnSpPr>
        <p:spPr>
          <a:xfrm>
            <a:off x="6153912" y="5632704"/>
            <a:ext cx="0" cy="91440"/>
          </a:xfrm>
          <a:prstGeom prst="line">
            <a:avLst/>
          </a:prstGeom>
          <a:ln w="15875">
            <a:solidFill>
              <a:srgbClr val="3B6FD8"/>
            </a:solidFill>
            <a:tailEnd type="triangle" w="med" len="med"/>
          </a:ln>
        </p:spPr>
      </p:cxnSp>
      <p:sp>
        <p:nvSpPr>
          <p:cNvPr id="70" name="Rounded Rectangle 69"/>
          <p:cNvSpPr/>
          <p:nvPr/>
        </p:nvSpPr>
        <p:spPr>
          <a:xfrm>
            <a:off x="4983480" y="5724144"/>
            <a:ext cx="2340864" cy="256032"/>
          </a:xfrm>
          <a:prstGeom prst="roundRect">
            <a:avLst>
              <a:gd name="adj" fmla="val 30000"/>
            </a:avLst>
          </a:prstGeom>
          <a:solidFill>
            <a:srgbClr val="E2F0D9"/>
          </a:solidFill>
          <a:ln w="9525">
            <a:solidFill>
              <a:srgbClr val="548235"/>
            </a:solidFill>
          </a:ln>
        </p:spPr>
        <p:txBody>
          <a:bodyPr wrap="square" lIns="0" tIns="0" rIns="0" bIns="0" rtlCol="0" anchor="ctr"/>
          <a:lstStyle/>
          <a:p>
            <a:pPr algn="ctr">
              <a:lnSpc>
                <a:spcPct val="100000"/>
              </a:lnSpc>
              <a:buNone/>
            </a:pPr>
            <a:r>
              <a:rPr sz="850" b="1" i="0">
                <a:solidFill>
                  <a:srgbClr val="2E5E1F"/>
                </a:solidFill>
                <a:latin typeface="Calibri"/>
              </a:rPr>
              <a:t>Release: Shadow → Canary → Live</a:t>
            </a:r>
          </a:p>
        </p:txBody>
      </p:sp>
      <p:pic>
        <p:nvPicPr>
          <p:cNvPr id="71" name="Picture 70" descr="ic_tools.png"/>
          <p:cNvPicPr>
            <a:picLocks noChangeAspect="1"/>
          </p:cNvPicPr>
          <p:nvPr/>
        </p:nvPicPr>
        <p:blipFill>
          <a:blip r:embed="rId7"/>
          <a:stretch>
            <a:fillRect/>
          </a:stretch>
        </p:blipFill>
        <p:spPr>
          <a:xfrm>
            <a:off x="4503420" y="6053328"/>
            <a:ext cx="274320" cy="274320"/>
          </a:xfrm>
          <a:prstGeom prst="rect">
            <a:avLst/>
          </a:prstGeom>
        </p:spPr>
      </p:pic>
      <p:sp>
        <p:nvSpPr>
          <p:cNvPr id="72" name="Rectangle 71"/>
          <p:cNvSpPr/>
          <p:nvPr/>
        </p:nvSpPr>
        <p:spPr>
          <a:xfrm>
            <a:off x="4206240" y="6345936"/>
            <a:ext cx="868680" cy="182880"/>
          </a:xfrm>
          <a:prstGeom prst="rect">
            <a:avLst/>
          </a:prstGeom>
          <a:noFill/>
          <a:ln>
            <a:noFill/>
          </a:ln>
        </p:spPr>
        <p:txBody>
          <a:bodyPr wrap="square" lIns="0" tIns="0" rIns="0" bIns="0" rtlCol="0" anchor="t"/>
          <a:lstStyle/>
          <a:p>
            <a:pPr algn="ctr">
              <a:lnSpc>
                <a:spcPct val="100000"/>
              </a:lnSpc>
              <a:buNone/>
            </a:pPr>
            <a:r>
              <a:rPr sz="750" b="0" i="0">
                <a:solidFill>
                  <a:srgbClr val="2F3E56"/>
                </a:solidFill>
                <a:latin typeface="Calibri"/>
              </a:rPr>
              <a:t>MCP Tools</a:t>
            </a:r>
          </a:p>
        </p:txBody>
      </p:sp>
      <p:pic>
        <p:nvPicPr>
          <p:cNvPr id="73" name="Picture 72" descr="ic_graph.png"/>
          <p:cNvPicPr>
            <a:picLocks noChangeAspect="1"/>
          </p:cNvPicPr>
          <p:nvPr/>
        </p:nvPicPr>
        <p:blipFill>
          <a:blip r:embed="rId8"/>
          <a:stretch>
            <a:fillRect/>
          </a:stretch>
        </p:blipFill>
        <p:spPr>
          <a:xfrm>
            <a:off x="5481828" y="6053328"/>
            <a:ext cx="274320" cy="274320"/>
          </a:xfrm>
          <a:prstGeom prst="rect">
            <a:avLst/>
          </a:prstGeom>
        </p:spPr>
      </p:pic>
      <p:sp>
        <p:nvSpPr>
          <p:cNvPr id="74" name="Rectangle 73"/>
          <p:cNvSpPr/>
          <p:nvPr/>
        </p:nvSpPr>
        <p:spPr>
          <a:xfrm>
            <a:off x="5184648" y="6345936"/>
            <a:ext cx="868680" cy="182880"/>
          </a:xfrm>
          <a:prstGeom prst="rect">
            <a:avLst/>
          </a:prstGeom>
          <a:noFill/>
          <a:ln>
            <a:noFill/>
          </a:ln>
        </p:spPr>
        <p:txBody>
          <a:bodyPr wrap="square" lIns="0" tIns="0" rIns="0" bIns="0" rtlCol="0" anchor="t"/>
          <a:lstStyle/>
          <a:p>
            <a:pPr algn="ctr">
              <a:lnSpc>
                <a:spcPct val="100000"/>
              </a:lnSpc>
              <a:buNone/>
            </a:pPr>
            <a:r>
              <a:rPr sz="750" b="0" i="0">
                <a:solidFill>
                  <a:srgbClr val="2F3E56"/>
                </a:solidFill>
                <a:latin typeface="Calibri"/>
              </a:rPr>
              <a:t>Knowledge Graph</a:t>
            </a:r>
          </a:p>
        </p:txBody>
      </p:sp>
      <p:pic>
        <p:nvPicPr>
          <p:cNvPr id="75" name="Picture 74" descr="ic_chart.png"/>
          <p:cNvPicPr>
            <a:picLocks noChangeAspect="1"/>
          </p:cNvPicPr>
          <p:nvPr/>
        </p:nvPicPr>
        <p:blipFill>
          <a:blip r:embed="rId9"/>
          <a:stretch>
            <a:fillRect/>
          </a:stretch>
        </p:blipFill>
        <p:spPr>
          <a:xfrm>
            <a:off x="6460236" y="6053328"/>
            <a:ext cx="274320" cy="274320"/>
          </a:xfrm>
          <a:prstGeom prst="rect">
            <a:avLst/>
          </a:prstGeom>
        </p:spPr>
      </p:pic>
      <p:sp>
        <p:nvSpPr>
          <p:cNvPr id="76" name="Rectangle 75"/>
          <p:cNvSpPr/>
          <p:nvPr/>
        </p:nvSpPr>
        <p:spPr>
          <a:xfrm>
            <a:off x="6163056" y="6345936"/>
            <a:ext cx="868680" cy="182880"/>
          </a:xfrm>
          <a:prstGeom prst="rect">
            <a:avLst/>
          </a:prstGeom>
          <a:noFill/>
          <a:ln>
            <a:noFill/>
          </a:ln>
        </p:spPr>
        <p:txBody>
          <a:bodyPr wrap="square" lIns="0" tIns="0" rIns="0" bIns="0" rtlCol="0" anchor="t"/>
          <a:lstStyle/>
          <a:p>
            <a:pPr algn="ctr">
              <a:lnSpc>
                <a:spcPct val="100000"/>
              </a:lnSpc>
              <a:buNone/>
            </a:pPr>
            <a:r>
              <a:rPr sz="750" b="0" i="0">
                <a:solidFill>
                  <a:srgbClr val="2F3E56"/>
                </a:solidFill>
                <a:latin typeface="Calibri"/>
              </a:rPr>
              <a:t>Sentinel (drift tool)</a:t>
            </a:r>
          </a:p>
        </p:txBody>
      </p:sp>
      <p:pic>
        <p:nvPicPr>
          <p:cNvPr id="77" name="Picture 76" descr="ic_db.png"/>
          <p:cNvPicPr>
            <a:picLocks noChangeAspect="1"/>
          </p:cNvPicPr>
          <p:nvPr/>
        </p:nvPicPr>
        <p:blipFill>
          <a:blip r:embed="rId10"/>
          <a:stretch>
            <a:fillRect/>
          </a:stretch>
        </p:blipFill>
        <p:spPr>
          <a:xfrm>
            <a:off x="7438644" y="6053328"/>
            <a:ext cx="274320" cy="274320"/>
          </a:xfrm>
          <a:prstGeom prst="rect">
            <a:avLst/>
          </a:prstGeom>
        </p:spPr>
      </p:pic>
      <p:sp>
        <p:nvSpPr>
          <p:cNvPr id="78" name="Rectangle 77"/>
          <p:cNvSpPr/>
          <p:nvPr/>
        </p:nvSpPr>
        <p:spPr>
          <a:xfrm>
            <a:off x="7141464" y="6345936"/>
            <a:ext cx="868680" cy="182880"/>
          </a:xfrm>
          <a:prstGeom prst="rect">
            <a:avLst/>
          </a:prstGeom>
          <a:noFill/>
          <a:ln>
            <a:noFill/>
          </a:ln>
        </p:spPr>
        <p:txBody>
          <a:bodyPr wrap="square" lIns="0" tIns="0" rIns="0" bIns="0" rtlCol="0" anchor="t"/>
          <a:lstStyle/>
          <a:p>
            <a:pPr algn="ctr">
              <a:lnSpc>
                <a:spcPct val="100000"/>
              </a:lnSpc>
              <a:buNone/>
            </a:pPr>
            <a:r>
              <a:rPr sz="750" b="0" i="0">
                <a:solidFill>
                  <a:srgbClr val="2F3E56"/>
                </a:solidFill>
                <a:latin typeface="Calibri"/>
              </a:rPr>
              <a:t>Audit Trail</a:t>
            </a:r>
          </a:p>
        </p:txBody>
      </p:sp>
      <p:sp>
        <p:nvSpPr>
          <p:cNvPr id="79" name="Rectangle 78"/>
          <p:cNvSpPr/>
          <p:nvPr/>
        </p:nvSpPr>
        <p:spPr>
          <a:xfrm>
            <a:off x="8321040" y="3703320"/>
            <a:ext cx="3200400" cy="329184"/>
          </a:xfrm>
          <a:prstGeom prst="rect">
            <a:avLst/>
          </a:prstGeom>
          <a:noFill/>
          <a:ln>
            <a:noFill/>
          </a:ln>
        </p:spPr>
        <p:txBody>
          <a:bodyPr wrap="square" lIns="0" tIns="0" rIns="0" bIns="0" rtlCol="0" anchor="ctr"/>
          <a:lstStyle/>
          <a:p>
            <a:pPr algn="l">
              <a:lnSpc>
                <a:spcPct val="100000"/>
              </a:lnSpc>
              <a:buNone/>
            </a:pPr>
            <a:r>
              <a:rPr sz="1800" b="1" i="0">
                <a:solidFill>
                  <a:srgbClr val="3A3480"/>
                </a:solidFill>
                <a:latin typeface="Times New Roman"/>
              </a:rPr>
              <a:t>Use Case Diagram</a:t>
            </a:r>
          </a:p>
        </p:txBody>
      </p:sp>
      <p:sp>
        <p:nvSpPr>
          <p:cNvPr id="80" name="Rounded Rectangle 79"/>
          <p:cNvSpPr/>
          <p:nvPr/>
        </p:nvSpPr>
        <p:spPr>
          <a:xfrm>
            <a:off x="8275320" y="4069080"/>
            <a:ext cx="3657600" cy="2606040"/>
          </a:xfrm>
          <a:prstGeom prst="roundRect">
            <a:avLst>
              <a:gd name="adj" fmla="val 4000"/>
            </a:avLst>
          </a:prstGeom>
          <a:solidFill>
            <a:srgbClr val="F2F6FC"/>
          </a:solidFill>
          <a:ln>
            <a:noFill/>
          </a:ln>
        </p:spPr>
        <p:txBody>
          <a:bodyPr wrap="square" lIns="0" tIns="0" rIns="0" bIns="0" rtlCol="0" anchor="t"/>
          <a:lstStyle/>
          <a:p>
            <a:endParaRPr/>
          </a:p>
        </p:txBody>
      </p:sp>
      <p:sp>
        <p:nvSpPr>
          <p:cNvPr id="81" name="Rounded Rectangle 80"/>
          <p:cNvSpPr/>
          <p:nvPr/>
        </p:nvSpPr>
        <p:spPr>
          <a:xfrm>
            <a:off x="9253728" y="4142232"/>
            <a:ext cx="1700784" cy="2459736"/>
          </a:xfrm>
          <a:prstGeom prst="roundRect">
            <a:avLst>
              <a:gd name="adj" fmla="val 6000"/>
            </a:avLst>
          </a:prstGeom>
          <a:solidFill>
            <a:srgbClr val="FFFFFF"/>
          </a:solidFill>
          <a:ln w="15875">
            <a:solidFill>
              <a:srgbClr val="3B6FD8"/>
            </a:solidFill>
          </a:ln>
        </p:spPr>
        <p:txBody>
          <a:bodyPr wrap="square" lIns="0" tIns="36576" rIns="0" bIns="0" rtlCol="0" anchor="t"/>
          <a:lstStyle/>
          <a:p>
            <a:pPr algn="ctr">
              <a:lnSpc>
                <a:spcPct val="100000"/>
              </a:lnSpc>
              <a:buNone/>
            </a:pPr>
            <a:r>
              <a:rPr sz="900" b="1" i="0">
                <a:solidFill>
                  <a:srgbClr val="1F1A50"/>
                </a:solidFill>
                <a:latin typeface="Calibri"/>
              </a:rPr>
              <a:t>NIYAM Platform</a:t>
            </a:r>
          </a:p>
        </p:txBody>
      </p:sp>
      <p:sp>
        <p:nvSpPr>
          <p:cNvPr id="82" name="Oval 81"/>
          <p:cNvSpPr/>
          <p:nvPr/>
        </p:nvSpPr>
        <p:spPr>
          <a:xfrm>
            <a:off x="9363455" y="4425696"/>
            <a:ext cx="1481328" cy="292608"/>
          </a:xfrm>
          <a:prstGeom prst="ellipse">
            <a:avLst/>
          </a:prstGeom>
          <a:solidFill>
            <a:srgbClr val="E3EDF9"/>
          </a:solidFill>
          <a:ln w="9525">
            <a:solidFill>
              <a:srgbClr val="9DB4D6"/>
            </a:solidFill>
          </a:ln>
        </p:spPr>
        <p:txBody>
          <a:bodyPr wrap="square" lIns="0" tIns="0" rIns="0" bIns="0" rtlCol="0" anchor="ctr"/>
          <a:lstStyle/>
          <a:p>
            <a:pPr algn="ctr">
              <a:lnSpc>
                <a:spcPct val="100000"/>
              </a:lnSpc>
              <a:buNone/>
            </a:pPr>
            <a:r>
              <a:rPr sz="800" b="0" i="0">
                <a:solidFill>
                  <a:srgbClr val="1F2A44"/>
                </a:solidFill>
                <a:latin typeface="Calibri"/>
              </a:rPr>
              <a:t>Upload Circular</a:t>
            </a:r>
          </a:p>
        </p:txBody>
      </p:sp>
      <p:sp>
        <p:nvSpPr>
          <p:cNvPr id="83" name="Oval 82"/>
          <p:cNvSpPr/>
          <p:nvPr/>
        </p:nvSpPr>
        <p:spPr>
          <a:xfrm>
            <a:off x="9363455" y="4782312"/>
            <a:ext cx="1481328" cy="292608"/>
          </a:xfrm>
          <a:prstGeom prst="ellipse">
            <a:avLst/>
          </a:prstGeom>
          <a:solidFill>
            <a:srgbClr val="E3EDF9"/>
          </a:solidFill>
          <a:ln w="9525">
            <a:solidFill>
              <a:srgbClr val="9DB4D6"/>
            </a:solidFill>
          </a:ln>
        </p:spPr>
        <p:txBody>
          <a:bodyPr wrap="square" lIns="0" tIns="0" rIns="0" bIns="0" rtlCol="0" anchor="ctr"/>
          <a:lstStyle/>
          <a:p>
            <a:pPr algn="ctr">
              <a:lnSpc>
                <a:spcPct val="100000"/>
              </a:lnSpc>
              <a:buNone/>
            </a:pPr>
            <a:r>
              <a:rPr sz="800" b="0" i="0">
                <a:solidFill>
                  <a:srgbClr val="1F2A44"/>
                </a:solidFill>
                <a:latin typeface="Calibri"/>
              </a:rPr>
              <a:t>Review Obligations</a:t>
            </a:r>
          </a:p>
        </p:txBody>
      </p:sp>
      <p:sp>
        <p:nvSpPr>
          <p:cNvPr id="84" name="Oval 83"/>
          <p:cNvSpPr/>
          <p:nvPr/>
        </p:nvSpPr>
        <p:spPr>
          <a:xfrm>
            <a:off x="9363455" y="5138928"/>
            <a:ext cx="1481328" cy="292608"/>
          </a:xfrm>
          <a:prstGeom prst="ellipse">
            <a:avLst/>
          </a:prstGeom>
          <a:solidFill>
            <a:srgbClr val="E3EDF9"/>
          </a:solidFill>
          <a:ln w="9525">
            <a:solidFill>
              <a:srgbClr val="9DB4D6"/>
            </a:solidFill>
          </a:ln>
        </p:spPr>
        <p:txBody>
          <a:bodyPr wrap="square" lIns="0" tIns="0" rIns="0" bIns="0" rtlCol="0" anchor="ctr"/>
          <a:lstStyle/>
          <a:p>
            <a:pPr algn="ctr">
              <a:lnSpc>
                <a:spcPct val="100000"/>
              </a:lnSpc>
              <a:buNone/>
            </a:pPr>
            <a:r>
              <a:rPr sz="800" b="0" i="0">
                <a:solidFill>
                  <a:srgbClr val="1F2A44"/>
                </a:solidFill>
                <a:latin typeface="Calibri"/>
              </a:rPr>
              <a:t>View Impact Report</a:t>
            </a:r>
          </a:p>
        </p:txBody>
      </p:sp>
      <p:sp>
        <p:nvSpPr>
          <p:cNvPr id="85" name="Oval 84"/>
          <p:cNvSpPr/>
          <p:nvPr/>
        </p:nvSpPr>
        <p:spPr>
          <a:xfrm>
            <a:off x="9363455" y="5495544"/>
            <a:ext cx="1481328" cy="292608"/>
          </a:xfrm>
          <a:prstGeom prst="ellipse">
            <a:avLst/>
          </a:prstGeom>
          <a:solidFill>
            <a:srgbClr val="E3EDF9"/>
          </a:solidFill>
          <a:ln w="9525">
            <a:solidFill>
              <a:srgbClr val="9DB4D6"/>
            </a:solidFill>
          </a:ln>
        </p:spPr>
        <p:txBody>
          <a:bodyPr wrap="square" lIns="0" tIns="0" rIns="0" bIns="0" rtlCol="0" anchor="ctr"/>
          <a:lstStyle/>
          <a:p>
            <a:pPr algn="ctr">
              <a:lnSpc>
                <a:spcPct val="100000"/>
              </a:lnSpc>
              <a:buNone/>
            </a:pPr>
            <a:r>
              <a:rPr sz="800" b="0" i="0">
                <a:solidFill>
                  <a:srgbClr val="1F2A44"/>
                </a:solidFill>
                <a:latin typeface="Calibri"/>
              </a:rPr>
              <a:t>Approve Rule Change</a:t>
            </a:r>
          </a:p>
        </p:txBody>
      </p:sp>
      <p:sp>
        <p:nvSpPr>
          <p:cNvPr id="86" name="Oval 85"/>
          <p:cNvSpPr/>
          <p:nvPr/>
        </p:nvSpPr>
        <p:spPr>
          <a:xfrm>
            <a:off x="9363455" y="5852160"/>
            <a:ext cx="1481328" cy="292608"/>
          </a:xfrm>
          <a:prstGeom prst="ellipse">
            <a:avLst/>
          </a:prstGeom>
          <a:solidFill>
            <a:srgbClr val="E3EDF9"/>
          </a:solidFill>
          <a:ln w="9525">
            <a:solidFill>
              <a:srgbClr val="9DB4D6"/>
            </a:solidFill>
          </a:ln>
        </p:spPr>
        <p:txBody>
          <a:bodyPr wrap="square" lIns="0" tIns="0" rIns="0" bIns="0" rtlCol="0" anchor="ctr"/>
          <a:lstStyle/>
          <a:p>
            <a:pPr algn="ctr">
              <a:lnSpc>
                <a:spcPct val="100000"/>
              </a:lnSpc>
              <a:buNone/>
            </a:pPr>
            <a:r>
              <a:rPr sz="800" b="0" i="0">
                <a:solidFill>
                  <a:srgbClr val="1F2A44"/>
                </a:solidFill>
                <a:latin typeface="Calibri"/>
              </a:rPr>
              <a:t>Monitor &amp; Rollback</a:t>
            </a:r>
          </a:p>
        </p:txBody>
      </p:sp>
      <p:sp>
        <p:nvSpPr>
          <p:cNvPr id="87" name="Oval 86"/>
          <p:cNvSpPr/>
          <p:nvPr/>
        </p:nvSpPr>
        <p:spPr>
          <a:xfrm>
            <a:off x="9363455" y="6208776"/>
            <a:ext cx="1481328" cy="292608"/>
          </a:xfrm>
          <a:prstGeom prst="ellipse">
            <a:avLst/>
          </a:prstGeom>
          <a:solidFill>
            <a:srgbClr val="E3EDF9"/>
          </a:solidFill>
          <a:ln w="9525">
            <a:solidFill>
              <a:srgbClr val="9DB4D6"/>
            </a:solidFill>
          </a:ln>
        </p:spPr>
        <p:txBody>
          <a:bodyPr wrap="square" lIns="0" tIns="0" rIns="0" bIns="0" rtlCol="0" anchor="ctr"/>
          <a:lstStyle/>
          <a:p>
            <a:pPr algn="ctr">
              <a:lnSpc>
                <a:spcPct val="100000"/>
              </a:lnSpc>
              <a:buNone/>
            </a:pPr>
            <a:r>
              <a:rPr sz="800" b="0" i="0">
                <a:solidFill>
                  <a:srgbClr val="1F2A44"/>
                </a:solidFill>
                <a:latin typeface="Calibri"/>
              </a:rPr>
              <a:t>Trace Alert to Clause</a:t>
            </a:r>
          </a:p>
        </p:txBody>
      </p:sp>
      <p:pic>
        <p:nvPicPr>
          <p:cNvPr id="88" name="Picture 87" descr="ic_officer.png"/>
          <p:cNvPicPr>
            <a:picLocks noChangeAspect="1"/>
          </p:cNvPicPr>
          <p:nvPr/>
        </p:nvPicPr>
        <p:blipFill>
          <a:blip r:embed="rId11"/>
          <a:stretch>
            <a:fillRect/>
          </a:stretch>
        </p:blipFill>
        <p:spPr>
          <a:xfrm>
            <a:off x="8558784" y="4370832"/>
            <a:ext cx="329184" cy="329184"/>
          </a:xfrm>
          <a:prstGeom prst="rect">
            <a:avLst/>
          </a:prstGeom>
        </p:spPr>
      </p:pic>
      <p:sp>
        <p:nvSpPr>
          <p:cNvPr id="89" name="Rectangle 88"/>
          <p:cNvSpPr/>
          <p:nvPr/>
        </p:nvSpPr>
        <p:spPr>
          <a:xfrm>
            <a:off x="8339327" y="4718304"/>
            <a:ext cx="768096" cy="329184"/>
          </a:xfrm>
          <a:prstGeom prst="rect">
            <a:avLst/>
          </a:prstGeom>
          <a:noFill/>
          <a:ln>
            <a:noFill/>
          </a:ln>
        </p:spPr>
        <p:txBody>
          <a:bodyPr wrap="square" lIns="0" tIns="0" rIns="0" bIns="0" rtlCol="0" anchor="t"/>
          <a:lstStyle/>
          <a:p>
            <a:pPr algn="ctr">
              <a:lnSpc>
                <a:spcPct val="100000"/>
              </a:lnSpc>
              <a:buNone/>
            </a:pPr>
            <a:r>
              <a:rPr sz="750" b="0" i="0">
                <a:solidFill>
                  <a:srgbClr val="2F3E56"/>
                </a:solidFill>
                <a:latin typeface="Calibri"/>
              </a:rPr>
              <a:t>Compliance</a:t>
            </a:r>
          </a:p>
          <a:p>
            <a:pPr algn="ctr">
              <a:lnSpc>
                <a:spcPct val="100000"/>
              </a:lnSpc>
              <a:buNone/>
            </a:pPr>
            <a:r>
              <a:rPr sz="750" b="0" i="0">
                <a:solidFill>
                  <a:srgbClr val="2F3E56"/>
                </a:solidFill>
                <a:latin typeface="Calibri"/>
              </a:rPr>
              <a:t>Officer</a:t>
            </a:r>
          </a:p>
        </p:txBody>
      </p:sp>
      <p:pic>
        <p:nvPicPr>
          <p:cNvPr id="90" name="Picture 89" descr="ic_auditor.png"/>
          <p:cNvPicPr>
            <a:picLocks noChangeAspect="1"/>
          </p:cNvPicPr>
          <p:nvPr/>
        </p:nvPicPr>
        <p:blipFill>
          <a:blip r:embed="rId12"/>
          <a:stretch>
            <a:fillRect/>
          </a:stretch>
        </p:blipFill>
        <p:spPr>
          <a:xfrm>
            <a:off x="8558784" y="5650992"/>
            <a:ext cx="329184" cy="329184"/>
          </a:xfrm>
          <a:prstGeom prst="rect">
            <a:avLst/>
          </a:prstGeom>
        </p:spPr>
      </p:pic>
      <p:sp>
        <p:nvSpPr>
          <p:cNvPr id="91" name="Rectangle 90"/>
          <p:cNvSpPr/>
          <p:nvPr/>
        </p:nvSpPr>
        <p:spPr>
          <a:xfrm>
            <a:off x="8339327" y="5998464"/>
            <a:ext cx="768096" cy="329184"/>
          </a:xfrm>
          <a:prstGeom prst="rect">
            <a:avLst/>
          </a:prstGeom>
          <a:noFill/>
          <a:ln>
            <a:noFill/>
          </a:ln>
        </p:spPr>
        <p:txBody>
          <a:bodyPr wrap="square" lIns="0" tIns="0" rIns="0" bIns="0" rtlCol="0" anchor="t"/>
          <a:lstStyle/>
          <a:p>
            <a:pPr algn="ctr">
              <a:lnSpc>
                <a:spcPct val="100000"/>
              </a:lnSpc>
              <a:buNone/>
            </a:pPr>
            <a:r>
              <a:rPr sz="750" b="0" i="0">
                <a:solidFill>
                  <a:srgbClr val="2F3E56"/>
                </a:solidFill>
                <a:latin typeface="Calibri"/>
              </a:rPr>
              <a:t>RBI Inspector</a:t>
            </a:r>
          </a:p>
          <a:p>
            <a:pPr algn="ctr">
              <a:lnSpc>
                <a:spcPct val="100000"/>
              </a:lnSpc>
              <a:buNone/>
            </a:pPr>
            <a:r>
              <a:rPr sz="750" b="0" i="0">
                <a:solidFill>
                  <a:srgbClr val="2F3E56"/>
                </a:solidFill>
                <a:latin typeface="Calibri"/>
              </a:rPr>
              <a:t>/ Auditor</a:t>
            </a:r>
          </a:p>
        </p:txBody>
      </p:sp>
      <p:pic>
        <p:nvPicPr>
          <p:cNvPr id="92" name="Picture 91" descr="ic_approver.png"/>
          <p:cNvPicPr>
            <a:picLocks noChangeAspect="1"/>
          </p:cNvPicPr>
          <p:nvPr/>
        </p:nvPicPr>
        <p:blipFill>
          <a:blip r:embed="rId13"/>
          <a:stretch>
            <a:fillRect/>
          </a:stretch>
        </p:blipFill>
        <p:spPr>
          <a:xfrm>
            <a:off x="11320272" y="4553712"/>
            <a:ext cx="329184" cy="329184"/>
          </a:xfrm>
          <a:prstGeom prst="rect">
            <a:avLst/>
          </a:prstGeom>
        </p:spPr>
      </p:pic>
      <p:sp>
        <p:nvSpPr>
          <p:cNvPr id="93" name="Rectangle 92"/>
          <p:cNvSpPr/>
          <p:nvPr/>
        </p:nvSpPr>
        <p:spPr>
          <a:xfrm>
            <a:off x="11100816" y="4901184"/>
            <a:ext cx="768096" cy="329184"/>
          </a:xfrm>
          <a:prstGeom prst="rect">
            <a:avLst/>
          </a:prstGeom>
          <a:noFill/>
          <a:ln>
            <a:noFill/>
          </a:ln>
        </p:spPr>
        <p:txBody>
          <a:bodyPr wrap="square" lIns="0" tIns="0" rIns="0" bIns="0" rtlCol="0" anchor="t"/>
          <a:lstStyle/>
          <a:p>
            <a:pPr algn="ctr">
              <a:lnSpc>
                <a:spcPct val="100000"/>
              </a:lnSpc>
              <a:buNone/>
            </a:pPr>
            <a:r>
              <a:rPr sz="750" b="0" i="0">
                <a:solidFill>
                  <a:srgbClr val="2F3E56"/>
                </a:solidFill>
                <a:latin typeface="Calibri"/>
              </a:rPr>
              <a:t>Risk / IT</a:t>
            </a:r>
          </a:p>
          <a:p>
            <a:pPr algn="ctr">
              <a:lnSpc>
                <a:spcPct val="100000"/>
              </a:lnSpc>
              <a:buNone/>
            </a:pPr>
            <a:r>
              <a:rPr sz="750" b="0" i="0">
                <a:solidFill>
                  <a:srgbClr val="2F3E56"/>
                </a:solidFill>
                <a:latin typeface="Calibri"/>
              </a:rPr>
              <a:t>Approver</a:t>
            </a:r>
          </a:p>
        </p:txBody>
      </p:sp>
      <p:pic>
        <p:nvPicPr>
          <p:cNvPr id="94" name="Picture 93" descr="ic_ops.png"/>
          <p:cNvPicPr>
            <a:picLocks noChangeAspect="1"/>
          </p:cNvPicPr>
          <p:nvPr/>
        </p:nvPicPr>
        <p:blipFill>
          <a:blip r:embed="rId14"/>
          <a:stretch>
            <a:fillRect/>
          </a:stretch>
        </p:blipFill>
        <p:spPr>
          <a:xfrm>
            <a:off x="11320272" y="5650992"/>
            <a:ext cx="329184" cy="329184"/>
          </a:xfrm>
          <a:prstGeom prst="rect">
            <a:avLst/>
          </a:prstGeom>
        </p:spPr>
      </p:pic>
      <p:sp>
        <p:nvSpPr>
          <p:cNvPr id="95" name="Rectangle 94"/>
          <p:cNvSpPr/>
          <p:nvPr/>
        </p:nvSpPr>
        <p:spPr>
          <a:xfrm>
            <a:off x="11100816" y="5998464"/>
            <a:ext cx="768096" cy="329184"/>
          </a:xfrm>
          <a:prstGeom prst="rect">
            <a:avLst/>
          </a:prstGeom>
          <a:noFill/>
          <a:ln>
            <a:noFill/>
          </a:ln>
        </p:spPr>
        <p:txBody>
          <a:bodyPr wrap="square" lIns="0" tIns="0" rIns="0" bIns="0" rtlCol="0" anchor="t"/>
          <a:lstStyle/>
          <a:p>
            <a:pPr algn="ctr">
              <a:lnSpc>
                <a:spcPct val="100000"/>
              </a:lnSpc>
              <a:buNone/>
            </a:pPr>
            <a:r>
              <a:rPr sz="750" b="0" i="0">
                <a:solidFill>
                  <a:srgbClr val="2F3E56"/>
                </a:solidFill>
                <a:latin typeface="Calibri"/>
              </a:rPr>
              <a:t>IT Ops</a:t>
            </a:r>
          </a:p>
        </p:txBody>
      </p:sp>
      <p:cxnSp>
        <p:nvCxnSpPr>
          <p:cNvPr id="96" name="Connector 95"/>
          <p:cNvCxnSpPr/>
          <p:nvPr/>
        </p:nvCxnSpPr>
        <p:spPr>
          <a:xfrm>
            <a:off x="8997696" y="4553712"/>
            <a:ext cx="384047" cy="18288"/>
          </a:xfrm>
          <a:prstGeom prst="line">
            <a:avLst/>
          </a:prstGeom>
          <a:ln w="12700">
            <a:solidFill>
              <a:srgbClr val="7F95B8"/>
            </a:solidFill>
          </a:ln>
        </p:spPr>
      </p:cxnSp>
      <p:cxnSp>
        <p:nvCxnSpPr>
          <p:cNvPr id="97" name="Connector 96"/>
          <p:cNvCxnSpPr/>
          <p:nvPr/>
        </p:nvCxnSpPr>
        <p:spPr>
          <a:xfrm>
            <a:off x="8997696" y="4553712"/>
            <a:ext cx="384047" cy="374904"/>
          </a:xfrm>
          <a:prstGeom prst="line">
            <a:avLst/>
          </a:prstGeom>
          <a:ln w="12700">
            <a:solidFill>
              <a:srgbClr val="7F95B8"/>
            </a:solidFill>
          </a:ln>
        </p:spPr>
      </p:cxnSp>
      <p:cxnSp>
        <p:nvCxnSpPr>
          <p:cNvPr id="98" name="Connector 97"/>
          <p:cNvCxnSpPr/>
          <p:nvPr/>
        </p:nvCxnSpPr>
        <p:spPr>
          <a:xfrm>
            <a:off x="8997696" y="5815584"/>
            <a:ext cx="384047" cy="539496"/>
          </a:xfrm>
          <a:prstGeom prst="line">
            <a:avLst/>
          </a:prstGeom>
          <a:ln w="12700">
            <a:solidFill>
              <a:srgbClr val="7F95B8"/>
            </a:solidFill>
          </a:ln>
        </p:spPr>
      </p:cxnSp>
      <p:cxnSp>
        <p:nvCxnSpPr>
          <p:cNvPr id="99" name="Connector 98"/>
          <p:cNvCxnSpPr/>
          <p:nvPr/>
        </p:nvCxnSpPr>
        <p:spPr>
          <a:xfrm flipH="1">
            <a:off x="10826496" y="4727448"/>
            <a:ext cx="493776" cy="557784"/>
          </a:xfrm>
          <a:prstGeom prst="line">
            <a:avLst/>
          </a:prstGeom>
          <a:ln w="12700">
            <a:solidFill>
              <a:srgbClr val="7F95B8"/>
            </a:solidFill>
          </a:ln>
        </p:spPr>
      </p:cxnSp>
      <p:cxnSp>
        <p:nvCxnSpPr>
          <p:cNvPr id="100" name="Connector 99"/>
          <p:cNvCxnSpPr/>
          <p:nvPr/>
        </p:nvCxnSpPr>
        <p:spPr>
          <a:xfrm flipH="1">
            <a:off x="10826496" y="4727448"/>
            <a:ext cx="493776" cy="914400"/>
          </a:xfrm>
          <a:prstGeom prst="line">
            <a:avLst/>
          </a:prstGeom>
          <a:ln w="12700">
            <a:solidFill>
              <a:srgbClr val="7F95B8"/>
            </a:solidFill>
          </a:ln>
        </p:spPr>
      </p:cxnSp>
      <p:cxnSp>
        <p:nvCxnSpPr>
          <p:cNvPr id="101" name="Connector 100"/>
          <p:cNvCxnSpPr/>
          <p:nvPr/>
        </p:nvCxnSpPr>
        <p:spPr>
          <a:xfrm flipH="1">
            <a:off x="10826496" y="5815584"/>
            <a:ext cx="493776" cy="182880"/>
          </a:xfrm>
          <a:prstGeom prst="line">
            <a:avLst/>
          </a:prstGeom>
          <a:ln w="12700">
            <a:solidFill>
              <a:srgbClr val="7F95B8"/>
            </a:solidFill>
          </a:ln>
        </p:spPr>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1247</Words>
  <Application>Microsoft Office PowerPoint</Application>
  <PresentationFormat>Widescreen</PresentationFormat>
  <Paragraphs>172</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Poppins</vt:lpstr>
      <vt:lpstr>Times New Roman</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Senaaravichandran A</cp:lastModifiedBy>
  <cp:revision>2</cp:revision>
  <dcterms:created xsi:type="dcterms:W3CDTF">2013-01-27T09:14:16Z</dcterms:created>
  <dcterms:modified xsi:type="dcterms:W3CDTF">2026-10-26T11:29:36Z</dcterms:modified>
  <cp:category/>
</cp:coreProperties>
</file>